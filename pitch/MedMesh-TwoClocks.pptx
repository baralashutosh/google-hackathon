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MedMesh, from team Two Clocks. One sentence: the medicine already exists, it is in the wrong place. Health systems across BRICS stock out of a drug and expire that same drug in the same district in the same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contradiction is measured, not asserted. Same district, same year: 85.6% of medicines stocked out while half were overstocked and 15% expired.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gap is visibility. Fifteen years of visibility software, and community health worker stock-outs nearly doubled.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logistics system ever built is a tree. Facility reports up, warehouse reports up. No sideways channel. A clinic 11km away with expiring stock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core and the reason the team is called Two Clocks.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the one everybody skips, and it is why every previous system failed at the last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 name matching is deterministic code, never a model decision. Letting an LLM pick the molecule invites a confident invisible substitution, and confidently wrong medicine is the failure that ends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insulin case is the whole product in one line. Lead with it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cross-border slide. The hemisphere point is the strongest single argument that pooling across BRICS is arithmetic rather than diplomacy.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weight deployability heavily. The key line: this is the module they are missing, not a replacement for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out loud buys more credibility than it costs. Judges assume weaknesses exist; naming them first means they trust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insulin image. Ask for one district, one quarter. Small ask, concrete, and it is genuinely all we need to prove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1371600"/>
            <a:ext cx="777240" cy="777240"/>
          </a:xfrm>
          <a:prstGeom prst="rect">
            <a:avLst/>
          </a:prstGeom>
        </p:spPr>
      </p:pic>
      <p:sp>
        <p:nvSpPr>
          <p:cNvPr id="3" name="Text 0"/>
          <p:cNvSpPr/>
          <p:nvPr/>
        </p:nvSpPr>
        <p:spPr>
          <a:xfrm>
            <a:off x="640080" y="2286000"/>
            <a:ext cx="10908792" cy="1051560"/>
          </a:xfrm>
          <a:prstGeom prst="rect">
            <a:avLst/>
          </a:prstGeom>
          <a:noFill/>
          <a:ln/>
        </p:spPr>
        <p:txBody>
          <a:bodyPr wrap="square" lIns="0" tIns="0" rIns="0" bIns="0" rtlCol="0" anchor="ctr"/>
          <a:lstStyle/>
          <a:p>
            <a:pPr indent="0" marL="0">
              <a:buNone/>
            </a:pPr>
            <a:r>
              <a:rPr lang="en-US" sz="5400" b="1" dirty="0">
                <a:solidFill>
                  <a:srgbClr val="E8EEF7"/>
                </a:solidFill>
                <a:latin typeface="Calibri" pitchFamily="34" charset="0"/>
                <a:ea typeface="Calibri" pitchFamily="34" charset="-122"/>
                <a:cs typeface="Calibri" pitchFamily="34" charset="-120"/>
              </a:rPr>
              <a:t>MedMesh</a:t>
            </a:r>
            <a:endParaRPr lang="en-US" sz="5400" dirty="0"/>
          </a:p>
        </p:txBody>
      </p:sp>
      <p:sp>
        <p:nvSpPr>
          <p:cNvPr id="4" name="Text 1"/>
          <p:cNvSpPr/>
          <p:nvPr/>
        </p:nvSpPr>
        <p:spPr>
          <a:xfrm>
            <a:off x="640080" y="3154680"/>
            <a:ext cx="8778240" cy="548640"/>
          </a:xfrm>
          <a:prstGeom prst="rect">
            <a:avLst/>
          </a:prstGeom>
          <a:noFill/>
          <a:ln/>
        </p:spPr>
        <p:txBody>
          <a:bodyPr wrap="square" lIns="0" tIns="0" rIns="0" bIns="0" rtlCol="0" anchor="ctr"/>
          <a:lstStyle/>
          <a:p>
            <a:pPr indent="0" marL="0">
              <a:buNone/>
            </a:pPr>
            <a:r>
              <a:rPr lang="en-US" sz="2400" dirty="0">
                <a:solidFill>
                  <a:srgbClr val="94A3B8"/>
                </a:solidFill>
                <a:latin typeface="Calibri" pitchFamily="34" charset="0"/>
                <a:ea typeface="Calibri" pitchFamily="34" charset="-122"/>
                <a:cs typeface="Calibri" pitchFamily="34" charset="-120"/>
              </a:rPr>
              <a:t>The medicine already exists. It is in the wrong place.</a:t>
            </a:r>
            <a:endParaRPr lang="en-US" sz="2400" dirty="0"/>
          </a:p>
        </p:txBody>
      </p:sp>
      <p:sp>
        <p:nvSpPr>
          <p:cNvPr id="5" name="Text 2"/>
          <p:cNvSpPr/>
          <p:nvPr/>
        </p:nvSpPr>
        <p:spPr>
          <a:xfrm>
            <a:off x="640080" y="3886200"/>
            <a:ext cx="8412480" cy="731520"/>
          </a:xfrm>
          <a:prstGeom prst="rect">
            <a:avLst/>
          </a:prstGeom>
          <a:noFill/>
          <a:ln/>
        </p:spPr>
        <p:txBody>
          <a:bodyPr wrap="square" lIns="0" tIns="0" rIns="0" bIns="0" rtlCol="0" anchor="ctr"/>
          <a:lstStyle/>
          <a:p>
            <a:pPr indent="0" marL="0">
              <a:lnSpc>
                <a:spcPct val="130000"/>
              </a:lnSpc>
              <a:buNone/>
            </a:pPr>
            <a:r>
              <a:rPr lang="en-US" sz="1500" dirty="0">
                <a:solidFill>
                  <a:srgbClr val="E8EEF7"/>
                </a:solidFill>
                <a:latin typeface="Calibri" pitchFamily="34" charset="0"/>
                <a:ea typeface="Calibri" pitchFamily="34" charset="-122"/>
                <a:cs typeface="Calibri" pitchFamily="34" charset="-120"/>
              </a:rPr>
              <a:t>Public health systems run out of a medicine and throw the same medicine away, in the same district, in the same quarter.</a:t>
            </a:r>
            <a:endParaRPr lang="en-US" sz="1500" dirty="0"/>
          </a:p>
        </p:txBody>
      </p:sp>
      <p:sp>
        <p:nvSpPr>
          <p:cNvPr id="6" name="Text 3"/>
          <p:cNvSpPr/>
          <p:nvPr/>
        </p:nvSpPr>
        <p:spPr>
          <a:xfrm>
            <a:off x="640080" y="5029200"/>
            <a:ext cx="10908792" cy="274320"/>
          </a:xfrm>
          <a:prstGeom prst="rect">
            <a:avLst/>
          </a:prstGeom>
          <a:noFill/>
          <a:ln/>
        </p:spPr>
        <p:txBody>
          <a:bodyPr wrap="square" lIns="0" tIns="0" rIns="0" bIns="0" rtlCol="0" anchor="ctr"/>
          <a:lstStyle/>
          <a:p>
            <a:pPr indent="0" marL="0">
              <a:buNone/>
            </a:pPr>
            <a:r>
              <a:rPr lang="en-US" sz="1200" dirty="0">
                <a:solidFill>
                  <a:srgbClr val="2DD4A7"/>
                </a:solidFill>
                <a:latin typeface="Calibri" pitchFamily="34" charset="0"/>
                <a:ea typeface="Calibri" pitchFamily="34" charset="-122"/>
                <a:cs typeface="Calibri" pitchFamily="34" charset="-120"/>
              </a:rPr>
              <a:t>Team Two Clocks   ·   Track 03, Smart Health and Supply Chain Resilience</a:t>
            </a:r>
            <a:endParaRPr lang="en-US" sz="1200" dirty="0"/>
          </a:p>
        </p:txBody>
      </p:sp>
      <p:sp>
        <p:nvSpPr>
          <p:cNvPr id="7" name="Text 4"/>
          <p:cNvSpPr/>
          <p:nvPr/>
        </p:nvSpPr>
        <p:spPr>
          <a:xfrm>
            <a:off x="640080" y="5321808"/>
            <a:ext cx="10908792"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Build with AI: Code for Communities, Second Edition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THE PROBLEM, MEASURED</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One district. Both failures at once.</a:t>
            </a:r>
            <a:endParaRPr lang="en-US" sz="3400" dirty="0"/>
          </a:p>
        </p:txBody>
      </p:sp>
      <p:sp>
        <p:nvSpPr>
          <p:cNvPr id="4" name="Shape 2"/>
          <p:cNvSpPr/>
          <p:nvPr/>
        </p:nvSpPr>
        <p:spPr>
          <a:xfrm>
            <a:off x="640080" y="1828800"/>
            <a:ext cx="3429000" cy="1691640"/>
          </a:xfrm>
          <a:prstGeom prst="roundRect">
            <a:avLst>
              <a:gd name="adj" fmla="val 4324"/>
            </a:avLst>
          </a:prstGeom>
          <a:solidFill>
            <a:srgbClr val="161D2E"/>
          </a:solidFill>
          <a:ln w="12700">
            <a:solidFill>
              <a:srgbClr val="2C3850"/>
            </a:solidFill>
            <a:prstDash val="solid"/>
          </a:ln>
        </p:spPr>
      </p:sp>
      <p:sp>
        <p:nvSpPr>
          <p:cNvPr id="5" name="Text 3"/>
          <p:cNvSpPr/>
          <p:nvPr/>
        </p:nvSpPr>
        <p:spPr>
          <a:xfrm>
            <a:off x="868680" y="1993392"/>
            <a:ext cx="2971800" cy="548640"/>
          </a:xfrm>
          <a:prstGeom prst="rect">
            <a:avLst/>
          </a:prstGeom>
          <a:noFill/>
          <a:ln/>
        </p:spPr>
        <p:txBody>
          <a:bodyPr wrap="square" lIns="0" tIns="0" rIns="0" bIns="0" rtlCol="0" anchor="ctr"/>
          <a:lstStyle/>
          <a:p>
            <a:pPr indent="0" marL="0">
              <a:buNone/>
            </a:pPr>
            <a:r>
              <a:rPr lang="en-US" sz="3000" b="1" dirty="0">
                <a:solidFill>
                  <a:srgbClr val="FF4D5E"/>
                </a:solidFill>
                <a:latin typeface="Calibri" pitchFamily="34" charset="0"/>
                <a:ea typeface="Calibri" pitchFamily="34" charset="-122"/>
                <a:cs typeface="Calibri" pitchFamily="34" charset="-120"/>
              </a:rPr>
              <a:t>85.6%</a:t>
            </a:r>
            <a:endParaRPr lang="en-US" sz="3000" dirty="0"/>
          </a:p>
        </p:txBody>
      </p:sp>
      <p:sp>
        <p:nvSpPr>
          <p:cNvPr id="6" name="Text 4"/>
          <p:cNvSpPr/>
          <p:nvPr/>
        </p:nvSpPr>
        <p:spPr>
          <a:xfrm>
            <a:off x="868680" y="2542032"/>
            <a:ext cx="297180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of medicines hit by stock-outs</a:t>
            </a:r>
            <a:endParaRPr lang="en-US" sz="1200" dirty="0"/>
          </a:p>
        </p:txBody>
      </p:sp>
      <p:sp>
        <p:nvSpPr>
          <p:cNvPr id="7" name="Text 5"/>
          <p:cNvSpPr/>
          <p:nvPr/>
        </p:nvSpPr>
        <p:spPr>
          <a:xfrm>
            <a:off x="868680" y="3081528"/>
            <a:ext cx="297180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King Cetshwayo, South Africa</a:t>
            </a:r>
            <a:endParaRPr lang="en-US" sz="1000" dirty="0"/>
          </a:p>
        </p:txBody>
      </p:sp>
      <p:sp>
        <p:nvSpPr>
          <p:cNvPr id="8" name="Shape 6"/>
          <p:cNvSpPr/>
          <p:nvPr/>
        </p:nvSpPr>
        <p:spPr>
          <a:xfrm>
            <a:off x="4379976" y="1828800"/>
            <a:ext cx="3429000" cy="1691640"/>
          </a:xfrm>
          <a:prstGeom prst="roundRect">
            <a:avLst>
              <a:gd name="adj" fmla="val 4324"/>
            </a:avLst>
          </a:prstGeom>
          <a:solidFill>
            <a:srgbClr val="161D2E"/>
          </a:solidFill>
          <a:ln w="12700">
            <a:solidFill>
              <a:srgbClr val="2C3850"/>
            </a:solidFill>
            <a:prstDash val="solid"/>
          </a:ln>
        </p:spPr>
      </p:sp>
      <p:sp>
        <p:nvSpPr>
          <p:cNvPr id="9" name="Text 7"/>
          <p:cNvSpPr/>
          <p:nvPr/>
        </p:nvSpPr>
        <p:spPr>
          <a:xfrm>
            <a:off x="4608576" y="1993392"/>
            <a:ext cx="2971800" cy="548640"/>
          </a:xfrm>
          <a:prstGeom prst="rect">
            <a:avLst/>
          </a:prstGeom>
          <a:noFill/>
          <a:ln/>
        </p:spPr>
        <p:txBody>
          <a:bodyPr wrap="square" lIns="0" tIns="0" rIns="0" bIns="0" rtlCol="0" anchor="ctr"/>
          <a:lstStyle/>
          <a:p>
            <a:pPr indent="0" marL="0">
              <a:buNone/>
            </a:pPr>
            <a:r>
              <a:rPr lang="en-US" sz="3000" b="1" dirty="0">
                <a:solidFill>
                  <a:srgbClr val="F5A524"/>
                </a:solidFill>
                <a:latin typeface="Calibri" pitchFamily="34" charset="0"/>
                <a:ea typeface="Calibri" pitchFamily="34" charset="-122"/>
                <a:cs typeface="Calibri" pitchFamily="34" charset="-120"/>
              </a:rPr>
              <a:t>50.6%</a:t>
            </a:r>
            <a:endParaRPr lang="en-US" sz="3000" dirty="0"/>
          </a:p>
        </p:txBody>
      </p:sp>
      <p:sp>
        <p:nvSpPr>
          <p:cNvPr id="10" name="Text 8"/>
          <p:cNvSpPr/>
          <p:nvPr/>
        </p:nvSpPr>
        <p:spPr>
          <a:xfrm>
            <a:off x="4608576" y="2542032"/>
            <a:ext cx="297180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of the same medicines overstocked</a:t>
            </a:r>
            <a:endParaRPr lang="en-US" sz="1200" dirty="0"/>
          </a:p>
        </p:txBody>
      </p:sp>
      <p:sp>
        <p:nvSpPr>
          <p:cNvPr id="11" name="Text 9"/>
          <p:cNvSpPr/>
          <p:nvPr/>
        </p:nvSpPr>
        <p:spPr>
          <a:xfrm>
            <a:off x="4608576" y="3081528"/>
            <a:ext cx="297180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Same district, same study</a:t>
            </a:r>
            <a:endParaRPr lang="en-US" sz="1000" dirty="0"/>
          </a:p>
        </p:txBody>
      </p:sp>
      <p:sp>
        <p:nvSpPr>
          <p:cNvPr id="12" name="Shape 10"/>
          <p:cNvSpPr/>
          <p:nvPr/>
        </p:nvSpPr>
        <p:spPr>
          <a:xfrm>
            <a:off x="8119872" y="1828800"/>
            <a:ext cx="3429000" cy="1691640"/>
          </a:xfrm>
          <a:prstGeom prst="roundRect">
            <a:avLst>
              <a:gd name="adj" fmla="val 4324"/>
            </a:avLst>
          </a:prstGeom>
          <a:solidFill>
            <a:srgbClr val="161D2E"/>
          </a:solidFill>
          <a:ln w="12700">
            <a:solidFill>
              <a:srgbClr val="2C3850"/>
            </a:solidFill>
            <a:prstDash val="solid"/>
          </a:ln>
        </p:spPr>
      </p:sp>
      <p:sp>
        <p:nvSpPr>
          <p:cNvPr id="13" name="Text 11"/>
          <p:cNvSpPr/>
          <p:nvPr/>
        </p:nvSpPr>
        <p:spPr>
          <a:xfrm>
            <a:off x="8348472" y="1993392"/>
            <a:ext cx="2971800" cy="548640"/>
          </a:xfrm>
          <a:prstGeom prst="rect">
            <a:avLst/>
          </a:prstGeom>
          <a:noFill/>
          <a:ln/>
        </p:spPr>
        <p:txBody>
          <a:bodyPr wrap="square" lIns="0" tIns="0" rIns="0" bIns="0" rtlCol="0" anchor="ctr"/>
          <a:lstStyle/>
          <a:p>
            <a:pPr indent="0" marL="0">
              <a:buNone/>
            </a:pPr>
            <a:r>
              <a:rPr lang="en-US" sz="3000" b="1" dirty="0">
                <a:solidFill>
                  <a:srgbClr val="F5A524"/>
                </a:solidFill>
                <a:latin typeface="Calibri" pitchFamily="34" charset="0"/>
                <a:ea typeface="Calibri" pitchFamily="34" charset="-122"/>
                <a:cs typeface="Calibri" pitchFamily="34" charset="-120"/>
              </a:rPr>
              <a:t>15.2%</a:t>
            </a:r>
            <a:endParaRPr lang="en-US" sz="3000" dirty="0"/>
          </a:p>
        </p:txBody>
      </p:sp>
      <p:sp>
        <p:nvSpPr>
          <p:cNvPr id="14" name="Text 12"/>
          <p:cNvSpPr/>
          <p:nvPr/>
        </p:nvSpPr>
        <p:spPr>
          <a:xfrm>
            <a:off x="8348472" y="2542032"/>
            <a:ext cx="297180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lost to expiry, unused</a:t>
            </a:r>
            <a:endParaRPr lang="en-US" sz="1200" dirty="0"/>
          </a:p>
        </p:txBody>
      </p:sp>
      <p:sp>
        <p:nvSpPr>
          <p:cNvPr id="15" name="Text 13"/>
          <p:cNvSpPr/>
          <p:nvPr/>
        </p:nvSpPr>
        <p:spPr>
          <a:xfrm>
            <a:off x="8348472" y="3081528"/>
            <a:ext cx="297180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BMC Health Serv Res, 2023</a:t>
            </a:r>
            <a:endParaRPr lang="en-US" sz="1000" dirty="0"/>
          </a:p>
        </p:txBody>
      </p:sp>
      <p:sp>
        <p:nvSpPr>
          <p:cNvPr id="16" name="Text 14"/>
          <p:cNvSpPr/>
          <p:nvPr/>
        </p:nvSpPr>
        <p:spPr>
          <a:xfrm>
            <a:off x="640080" y="3794760"/>
            <a:ext cx="10908792" cy="365760"/>
          </a:xfrm>
          <a:prstGeom prst="rect">
            <a:avLst/>
          </a:prstGeom>
          <a:noFill/>
          <a:ln/>
        </p:spPr>
        <p:txBody>
          <a:bodyPr wrap="square" lIns="0" tIns="0" rIns="0" bIns="0" rtlCol="0" anchor="ctr"/>
          <a:lstStyle/>
          <a:p>
            <a:pPr indent="0" marL="0">
              <a:buNone/>
            </a:pPr>
            <a:r>
              <a:rPr lang="en-US" sz="1700" b="1" dirty="0">
                <a:solidFill>
                  <a:srgbClr val="E8EEF7"/>
                </a:solidFill>
                <a:latin typeface="Calibri" pitchFamily="34" charset="0"/>
                <a:ea typeface="Calibri" pitchFamily="34" charset="-122"/>
                <a:cs typeface="Calibri" pitchFamily="34" charset="-120"/>
              </a:rPr>
              <a:t>These are not three different places. They are one district, one year, one shelf.</a:t>
            </a:r>
            <a:endParaRPr lang="en-US" sz="1700" dirty="0"/>
          </a:p>
        </p:txBody>
      </p:sp>
      <p:sp>
        <p:nvSpPr>
          <p:cNvPr id="17" name="Text 15"/>
          <p:cNvSpPr/>
          <p:nvPr/>
        </p:nvSpPr>
        <p:spPr>
          <a:xfrm>
            <a:off x="640080" y="4343400"/>
            <a:ext cx="10908792" cy="384048"/>
          </a:xfrm>
          <a:prstGeom prst="rect">
            <a:avLst/>
          </a:prstGeom>
          <a:noFill/>
          <a:ln/>
        </p:spPr>
        <p:txBody>
          <a:bodyPr wrap="square" lIns="0" tIns="0" rIns="0" bIns="0" rtlCol="0" anchor="ctr"/>
          <a:lstStyle/>
          <a:p>
            <a:pPr indent="0" marL="0">
              <a:buNone/>
            </a:pPr>
            <a:r>
              <a:rPr lang="en-US" sz="1300" b="1" dirty="0">
                <a:solidFill>
                  <a:srgbClr val="E8EEF7"/>
                </a:solidFill>
                <a:latin typeface="Calibri" pitchFamily="34" charset="0"/>
                <a:ea typeface="Calibri" pitchFamily="34" charset="-122"/>
                <a:cs typeface="Calibri" pitchFamily="34" charset="-120"/>
              </a:rPr>
              <a:t>Brazil:  </a:t>
            </a:r>
            <a:pPr indent="0" marL="0">
              <a:buNone/>
            </a:pPr>
            <a:r>
              <a:rPr lang="en-US" sz="1300" dirty="0">
                <a:solidFill>
                  <a:srgbClr val="94A3B8"/>
                </a:solidFill>
                <a:latin typeface="Calibri" pitchFamily="34" charset="0"/>
                <a:ea typeface="Calibri" pitchFamily="34" charset="-122"/>
                <a:cs typeface="Calibri" pitchFamily="34" charset="-120"/>
              </a:rPr>
              <a:t>82% of 3,360 municipalities reported shortages, while 5 to 20% of publicly purchased medicines were wasted.  (CNM, 2022)</a:t>
            </a:r>
            <a:endParaRPr lang="en-US" sz="1300" dirty="0"/>
          </a:p>
        </p:txBody>
      </p:sp>
      <p:sp>
        <p:nvSpPr>
          <p:cNvPr id="18" name="Text 16"/>
          <p:cNvSpPr/>
          <p:nvPr/>
        </p:nvSpPr>
        <p:spPr>
          <a:xfrm>
            <a:off x="640080" y="4754880"/>
            <a:ext cx="10908792" cy="384048"/>
          </a:xfrm>
          <a:prstGeom prst="rect">
            <a:avLst/>
          </a:prstGeom>
          <a:noFill/>
          <a:ln/>
        </p:spPr>
        <p:txBody>
          <a:bodyPr wrap="square" lIns="0" tIns="0" rIns="0" bIns="0" rtlCol="0" anchor="ctr"/>
          <a:lstStyle/>
          <a:p>
            <a:pPr indent="0" marL="0">
              <a:buNone/>
            </a:pPr>
            <a:r>
              <a:rPr lang="en-US" sz="1300" b="1" dirty="0">
                <a:solidFill>
                  <a:srgbClr val="E8EEF7"/>
                </a:solidFill>
                <a:latin typeface="Calibri" pitchFamily="34" charset="0"/>
                <a:ea typeface="Calibri" pitchFamily="34" charset="-122"/>
                <a:cs typeface="Calibri" pitchFamily="34" charset="-120"/>
              </a:rPr>
              <a:t>India:  </a:t>
            </a:r>
            <a:pPr indent="0" marL="0">
              <a:buNone/>
            </a:pPr>
            <a:r>
              <a:rPr lang="en-US" sz="1300" dirty="0">
                <a:solidFill>
                  <a:srgbClr val="94A3B8"/>
                </a:solidFill>
                <a:latin typeface="Calibri" pitchFamily="34" charset="0"/>
                <a:ea typeface="Calibri" pitchFamily="34" charset="-122"/>
                <a:cs typeface="Calibri" pitchFamily="34" charset="-120"/>
              </a:rPr>
              <a:t>only 52% of essential medicines available in more than 80% of primary facilities.</a:t>
            </a:r>
            <a:endParaRPr lang="en-US" sz="1300" dirty="0"/>
          </a:p>
        </p:txBody>
      </p:sp>
      <p:sp>
        <p:nvSpPr>
          <p:cNvPr id="19" name="Text 17"/>
          <p:cNvSpPr/>
          <p:nvPr/>
        </p:nvSpPr>
        <p:spPr>
          <a:xfrm>
            <a:off x="640080" y="5166360"/>
            <a:ext cx="10908792" cy="384048"/>
          </a:xfrm>
          <a:prstGeom prst="rect">
            <a:avLst/>
          </a:prstGeom>
          <a:noFill/>
          <a:ln/>
        </p:spPr>
        <p:txBody>
          <a:bodyPr wrap="square" lIns="0" tIns="0" rIns="0" bIns="0" rtlCol="0" anchor="ctr"/>
          <a:lstStyle/>
          <a:p>
            <a:pPr indent="0" marL="0">
              <a:buNone/>
            </a:pPr>
            <a:r>
              <a:rPr lang="en-US" sz="1300" b="1" dirty="0">
                <a:solidFill>
                  <a:srgbClr val="E8EEF7"/>
                </a:solidFill>
                <a:latin typeface="Calibri" pitchFamily="34" charset="0"/>
                <a:ea typeface="Calibri" pitchFamily="34" charset="-122"/>
                <a:cs typeface="Calibri" pitchFamily="34" charset="-120"/>
              </a:rPr>
              <a:t>WHO, 2010 to 2019:  </a:t>
            </a:r>
            <a:pPr indent="0" marL="0">
              <a:buNone/>
            </a:pPr>
            <a:r>
              <a:rPr lang="en-US" sz="1300" dirty="0">
                <a:solidFill>
                  <a:srgbClr val="94A3B8"/>
                </a:solidFill>
                <a:latin typeface="Calibri" pitchFamily="34" charset="0"/>
                <a:ea typeface="Calibri" pitchFamily="34" charset="-122"/>
                <a:cs typeface="Calibri" pitchFamily="34" charset="-120"/>
              </a:rPr>
              <a:t>facilities with core essential medicines available ranged 8% to 41% across low and lower-middle income countries.</a:t>
            </a:r>
            <a:endParaRPr lang="en-US" sz="1300" dirty="0"/>
          </a:p>
        </p:txBody>
      </p:sp>
      <p:pic>
        <p:nvPicPr>
          <p:cNvPr id="20"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21" name="Text 18"/>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22" name="Text 19"/>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THE NUMBER THAT SHOULD WORRY A MINISTRY</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We built the tracking. Stock-outs doubled anyway.</a:t>
            </a:r>
            <a:endParaRPr lang="en-US" sz="3400" dirty="0"/>
          </a:p>
        </p:txBody>
      </p:sp>
      <p:sp>
        <p:nvSpPr>
          <p:cNvPr id="4" name="Shape 2"/>
          <p:cNvSpPr/>
          <p:nvPr/>
        </p:nvSpPr>
        <p:spPr>
          <a:xfrm>
            <a:off x="640080" y="1965960"/>
            <a:ext cx="10908792" cy="1828800"/>
          </a:xfrm>
          <a:prstGeom prst="roundRect">
            <a:avLst>
              <a:gd name="adj" fmla="val 4000"/>
            </a:avLst>
          </a:prstGeom>
          <a:solidFill>
            <a:srgbClr val="161D2E"/>
          </a:solidFill>
          <a:ln w="12700">
            <a:solidFill>
              <a:srgbClr val="2C3850"/>
            </a:solidFill>
            <a:prstDash val="solid"/>
          </a:ln>
        </p:spPr>
      </p:sp>
      <p:sp>
        <p:nvSpPr>
          <p:cNvPr id="5" name="Text 3"/>
          <p:cNvSpPr/>
          <p:nvPr/>
        </p:nvSpPr>
        <p:spPr>
          <a:xfrm>
            <a:off x="1097280" y="2286000"/>
            <a:ext cx="2377440" cy="822960"/>
          </a:xfrm>
          <a:prstGeom prst="rect">
            <a:avLst/>
          </a:prstGeom>
          <a:noFill/>
          <a:ln/>
        </p:spPr>
        <p:txBody>
          <a:bodyPr wrap="square" lIns="0" tIns="0" rIns="0" bIns="0" rtlCol="0" anchor="ctr"/>
          <a:lstStyle/>
          <a:p>
            <a:pPr indent="0" marL="0">
              <a:buNone/>
            </a:pPr>
            <a:r>
              <a:rPr lang="en-US" sz="4000" b="1" dirty="0">
                <a:solidFill>
                  <a:srgbClr val="94A3B8"/>
                </a:solidFill>
                <a:latin typeface="Calibri" pitchFamily="34" charset="0"/>
                <a:ea typeface="Calibri" pitchFamily="34" charset="-122"/>
                <a:cs typeface="Calibri" pitchFamily="34" charset="-120"/>
              </a:rPr>
              <a:t>26.4%</a:t>
            </a:r>
            <a:endParaRPr lang="en-US" sz="4000" dirty="0"/>
          </a:p>
        </p:txBody>
      </p:sp>
      <p:sp>
        <p:nvSpPr>
          <p:cNvPr id="6" name="Text 4"/>
          <p:cNvSpPr/>
          <p:nvPr/>
        </p:nvSpPr>
        <p:spPr>
          <a:xfrm>
            <a:off x="1097280" y="3063240"/>
            <a:ext cx="2377440" cy="32004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2006 to 2015</a:t>
            </a:r>
            <a:endParaRPr lang="en-US" sz="1200" dirty="0"/>
          </a:p>
        </p:txBody>
      </p:sp>
      <p:sp>
        <p:nvSpPr>
          <p:cNvPr id="7" name="Shape 5"/>
          <p:cNvSpPr/>
          <p:nvPr/>
        </p:nvSpPr>
        <p:spPr>
          <a:xfrm>
            <a:off x="3749040" y="2606040"/>
            <a:ext cx="1005840" cy="310896"/>
          </a:xfrm>
          <a:prstGeom prst="rightArrow">
            <a:avLst/>
          </a:prstGeom>
          <a:solidFill>
            <a:srgbClr val="2C3850"/>
          </a:solidFill>
          <a:ln/>
        </p:spPr>
      </p:sp>
      <p:sp>
        <p:nvSpPr>
          <p:cNvPr id="8" name="Text 6"/>
          <p:cNvSpPr/>
          <p:nvPr/>
        </p:nvSpPr>
        <p:spPr>
          <a:xfrm>
            <a:off x="5212080" y="2286000"/>
            <a:ext cx="2377440" cy="822960"/>
          </a:xfrm>
          <a:prstGeom prst="rect">
            <a:avLst/>
          </a:prstGeom>
          <a:noFill/>
          <a:ln/>
        </p:spPr>
        <p:txBody>
          <a:bodyPr wrap="square" lIns="0" tIns="0" rIns="0" bIns="0" rtlCol="0" anchor="ctr"/>
          <a:lstStyle/>
          <a:p>
            <a:pPr indent="0" marL="0">
              <a:buNone/>
            </a:pPr>
            <a:r>
              <a:rPr lang="en-US" sz="4000" b="1" dirty="0">
                <a:solidFill>
                  <a:srgbClr val="FF4D5E"/>
                </a:solidFill>
                <a:latin typeface="Calibri" pitchFamily="34" charset="0"/>
                <a:ea typeface="Calibri" pitchFamily="34" charset="-122"/>
                <a:cs typeface="Calibri" pitchFamily="34" charset="-120"/>
              </a:rPr>
              <a:t>48.7%</a:t>
            </a:r>
            <a:endParaRPr lang="en-US" sz="4000" dirty="0"/>
          </a:p>
        </p:txBody>
      </p:sp>
      <p:sp>
        <p:nvSpPr>
          <p:cNvPr id="9" name="Text 7"/>
          <p:cNvSpPr/>
          <p:nvPr/>
        </p:nvSpPr>
        <p:spPr>
          <a:xfrm>
            <a:off x="5212080" y="3063240"/>
            <a:ext cx="2377440" cy="32004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2016 to 2021</a:t>
            </a:r>
            <a:endParaRPr lang="en-US" sz="1200" dirty="0"/>
          </a:p>
        </p:txBody>
      </p:sp>
      <p:sp>
        <p:nvSpPr>
          <p:cNvPr id="10" name="Text 8"/>
          <p:cNvSpPr/>
          <p:nvPr/>
        </p:nvSpPr>
        <p:spPr>
          <a:xfrm>
            <a:off x="8138160" y="2331720"/>
            <a:ext cx="2926080" cy="914400"/>
          </a:xfrm>
          <a:prstGeom prst="rect">
            <a:avLst/>
          </a:prstGeom>
          <a:noFill/>
          <a:ln/>
        </p:spPr>
        <p:txBody>
          <a:bodyPr wrap="square" lIns="0" tIns="0" rIns="0" bIns="0" rtlCol="0" anchor="ctr"/>
          <a:lstStyle/>
          <a:p>
            <a:pPr indent="0" marL="0">
              <a:lnSpc>
                <a:spcPct val="125000"/>
              </a:lnSpc>
              <a:buNone/>
            </a:pPr>
            <a:r>
              <a:rPr lang="en-US" sz="1400" dirty="0">
                <a:solidFill>
                  <a:srgbClr val="E8EEF7"/>
                </a:solidFill>
                <a:latin typeface="Calibri" pitchFamily="34" charset="0"/>
                <a:ea typeface="Calibri" pitchFamily="34" charset="-122"/>
                <a:cs typeface="Calibri" pitchFamily="34" charset="-120"/>
              </a:rPr>
              <a:t>Community health worker</a:t>
            </a:r>
            <a:endParaRPr lang="en-US" sz="1400" dirty="0"/>
          </a:p>
          <a:p>
            <a:pPr indent="0" marL="0">
              <a:lnSpc>
                <a:spcPct val="125000"/>
              </a:lnSpc>
              <a:buNone/>
            </a:pPr>
            <a:r>
              <a:rPr lang="en-US" sz="1400" dirty="0">
                <a:solidFill>
                  <a:srgbClr val="E8EEF7"/>
                </a:solidFill>
                <a:latin typeface="Calibri" pitchFamily="34" charset="0"/>
                <a:ea typeface="Calibri" pitchFamily="34" charset="-122"/>
                <a:cs typeface="Calibri" pitchFamily="34" charset="-120"/>
              </a:rPr>
              <a:t>stock-out rate</a:t>
            </a:r>
            <a:endParaRPr lang="en-US" sz="1400" dirty="0"/>
          </a:p>
        </p:txBody>
      </p:sp>
      <p:sp>
        <p:nvSpPr>
          <p:cNvPr id="11" name="Text 9"/>
          <p:cNvSpPr/>
          <p:nvPr/>
        </p:nvSpPr>
        <p:spPr>
          <a:xfrm>
            <a:off x="640080" y="4114800"/>
            <a:ext cx="10908792" cy="822960"/>
          </a:xfrm>
          <a:prstGeom prst="rect">
            <a:avLst/>
          </a:prstGeom>
          <a:noFill/>
          <a:ln/>
        </p:spPr>
        <p:txBody>
          <a:bodyPr wrap="square" lIns="0" tIns="0" rIns="0" bIns="0" rtlCol="0" anchor="ctr"/>
          <a:lstStyle/>
          <a:p>
            <a:pPr indent="0" marL="0">
              <a:lnSpc>
                <a:spcPct val="135000"/>
              </a:lnSpc>
              <a:buNone/>
            </a:pPr>
            <a:r>
              <a:rPr lang="en-US" sz="1500" dirty="0">
                <a:solidFill>
                  <a:srgbClr val="E8EEF7"/>
                </a:solidFill>
                <a:latin typeface="Calibri" pitchFamily="34" charset="0"/>
                <a:ea typeface="Calibri" pitchFamily="34" charset="-122"/>
                <a:cs typeface="Calibri" pitchFamily="34" charset="-120"/>
              </a:rPr>
              <a:t>That rise happened across exactly the period when logistics systems were rolled out everywhere. OpenLMIS runs in 11,000 facilities. India has DVDMS. Brazil has Hórus. South Africa has ePIMS.</a:t>
            </a:r>
            <a:endParaRPr lang="en-US" sz="1500" dirty="0"/>
          </a:p>
        </p:txBody>
      </p:sp>
      <p:sp>
        <p:nvSpPr>
          <p:cNvPr id="12" name="Text 10"/>
          <p:cNvSpPr/>
          <p:nvPr/>
        </p:nvSpPr>
        <p:spPr>
          <a:xfrm>
            <a:off x="640080" y="5029200"/>
            <a:ext cx="10908792" cy="457200"/>
          </a:xfrm>
          <a:prstGeom prst="rect">
            <a:avLst/>
          </a:prstGeom>
          <a:noFill/>
          <a:ln/>
        </p:spPr>
        <p:txBody>
          <a:bodyPr wrap="square" lIns="0" tIns="0" rIns="0" bIns="0" rtlCol="0" anchor="ctr"/>
          <a:lstStyle/>
          <a:p>
            <a:pPr indent="0" marL="0">
              <a:buNone/>
            </a:pPr>
            <a:r>
              <a:rPr lang="en-US" sz="1900" b="1" dirty="0">
                <a:solidFill>
                  <a:srgbClr val="2DD4A7"/>
                </a:solidFill>
                <a:latin typeface="Calibri" pitchFamily="34" charset="0"/>
                <a:ea typeface="Calibri" pitchFamily="34" charset="-122"/>
                <a:cs typeface="Calibri" pitchFamily="34" charset="-120"/>
              </a:rPr>
              <a:t>Fifteen years of tracking, and it got worse. Tracking was never the bottleneck.</a:t>
            </a:r>
            <a:endParaRPr lang="en-US" sz="1900" dirty="0"/>
          </a:p>
        </p:txBody>
      </p:sp>
      <p:pic>
        <p:nvPicPr>
          <p:cNvPr id="13"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14" name="Text 11"/>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15" name="Text 12"/>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WHY FIFTEEN YEARS OF SOFTWARE MISSED IT</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2900" b="1" dirty="0">
                <a:solidFill>
                  <a:srgbClr val="E8EEF7"/>
                </a:solidFill>
                <a:latin typeface="Calibri" pitchFamily="34" charset="0"/>
                <a:ea typeface="Calibri" pitchFamily="34" charset="-122"/>
                <a:cs typeface="Calibri" pitchFamily="34" charset="-120"/>
              </a:rPr>
              <a:t>Every supply system is a tree. Medicine needs a mesh.</a:t>
            </a:r>
            <a:endParaRPr lang="en-US" sz="2900" dirty="0"/>
          </a:p>
        </p:txBody>
      </p:sp>
      <p:sp>
        <p:nvSpPr>
          <p:cNvPr id="4" name="Shape 2"/>
          <p:cNvSpPr/>
          <p:nvPr/>
        </p:nvSpPr>
        <p:spPr>
          <a:xfrm>
            <a:off x="640080" y="1920240"/>
            <a:ext cx="5212080" cy="2834640"/>
          </a:xfrm>
          <a:prstGeom prst="roundRect">
            <a:avLst>
              <a:gd name="adj" fmla="val 2581"/>
            </a:avLst>
          </a:prstGeom>
          <a:solidFill>
            <a:srgbClr val="161D2E"/>
          </a:solidFill>
          <a:ln w="12700">
            <a:solidFill>
              <a:srgbClr val="2C3850"/>
            </a:solidFill>
            <a:prstDash val="solid"/>
          </a:ln>
        </p:spPr>
      </p:sp>
      <p:sp>
        <p:nvSpPr>
          <p:cNvPr id="5" name="Text 3"/>
          <p:cNvSpPr/>
          <p:nvPr/>
        </p:nvSpPr>
        <p:spPr>
          <a:xfrm>
            <a:off x="914400" y="2103120"/>
            <a:ext cx="4663440" cy="274320"/>
          </a:xfrm>
          <a:prstGeom prst="rect">
            <a:avLst/>
          </a:prstGeom>
          <a:noFill/>
          <a:ln/>
        </p:spPr>
        <p:txBody>
          <a:bodyPr wrap="square" lIns="0" tIns="0" rIns="0" bIns="0" rtlCol="0" anchor="ctr"/>
          <a:lstStyle/>
          <a:p>
            <a:pPr indent="0" marL="0">
              <a:buNone/>
            </a:pPr>
            <a:r>
              <a:rPr lang="en-US" sz="1200" b="1" spc="100" kern="0" dirty="0">
                <a:solidFill>
                  <a:srgbClr val="94A3B8"/>
                </a:solidFill>
                <a:latin typeface="Calibri" pitchFamily="34" charset="0"/>
                <a:ea typeface="Calibri" pitchFamily="34" charset="-122"/>
                <a:cs typeface="Calibri" pitchFamily="34" charset="-120"/>
              </a:rPr>
              <a:t>What exists today</a:t>
            </a:r>
            <a:endParaRPr lang="en-US" sz="1200" dirty="0"/>
          </a:p>
        </p:txBody>
      </p:sp>
      <p:sp>
        <p:nvSpPr>
          <p:cNvPr id="6" name="Shape 4"/>
          <p:cNvSpPr/>
          <p:nvPr/>
        </p:nvSpPr>
        <p:spPr>
          <a:xfrm>
            <a:off x="3063240" y="2514600"/>
            <a:ext cx="310896" cy="310896"/>
          </a:xfrm>
          <a:prstGeom prst="ellipse">
            <a:avLst/>
          </a:prstGeom>
          <a:solidFill>
            <a:srgbClr val="94A3B8"/>
          </a:solidFill>
          <a:ln/>
        </p:spPr>
      </p:sp>
      <p:sp>
        <p:nvSpPr>
          <p:cNvPr id="7" name="Shape 5"/>
          <p:cNvSpPr/>
          <p:nvPr/>
        </p:nvSpPr>
        <p:spPr>
          <a:xfrm>
            <a:off x="3218688" y="2825496"/>
            <a:ext cx="-1508760" cy="603504"/>
          </a:xfrm>
          <a:prstGeom prst="line">
            <a:avLst/>
          </a:prstGeom>
          <a:noFill/>
          <a:ln w="19050">
            <a:solidFill>
              <a:srgbClr val="2C3850"/>
            </a:solidFill>
            <a:prstDash val="solid"/>
          </a:ln>
        </p:spPr>
      </p:sp>
      <p:sp>
        <p:nvSpPr>
          <p:cNvPr id="8" name="Shape 6"/>
          <p:cNvSpPr/>
          <p:nvPr/>
        </p:nvSpPr>
        <p:spPr>
          <a:xfrm>
            <a:off x="3218688" y="2825496"/>
            <a:ext cx="0" cy="603504"/>
          </a:xfrm>
          <a:prstGeom prst="line">
            <a:avLst/>
          </a:prstGeom>
          <a:noFill/>
          <a:ln w="19050">
            <a:solidFill>
              <a:srgbClr val="2C3850"/>
            </a:solidFill>
            <a:prstDash val="solid"/>
          </a:ln>
        </p:spPr>
      </p:sp>
      <p:sp>
        <p:nvSpPr>
          <p:cNvPr id="9" name="Shape 7"/>
          <p:cNvSpPr/>
          <p:nvPr/>
        </p:nvSpPr>
        <p:spPr>
          <a:xfrm>
            <a:off x="3218688" y="2825496"/>
            <a:ext cx="1508760" cy="603504"/>
          </a:xfrm>
          <a:prstGeom prst="line">
            <a:avLst/>
          </a:prstGeom>
          <a:noFill/>
          <a:ln w="19050">
            <a:solidFill>
              <a:srgbClr val="2C3850"/>
            </a:solidFill>
            <a:prstDash val="solid"/>
          </a:ln>
        </p:spPr>
      </p:sp>
      <p:sp>
        <p:nvSpPr>
          <p:cNvPr id="10" name="Shape 8"/>
          <p:cNvSpPr/>
          <p:nvPr/>
        </p:nvSpPr>
        <p:spPr>
          <a:xfrm>
            <a:off x="1554480" y="3429000"/>
            <a:ext cx="310896" cy="310896"/>
          </a:xfrm>
          <a:prstGeom prst="ellipse">
            <a:avLst/>
          </a:prstGeom>
          <a:solidFill>
            <a:srgbClr val="F5A524"/>
          </a:solidFill>
          <a:ln/>
        </p:spPr>
      </p:sp>
      <p:sp>
        <p:nvSpPr>
          <p:cNvPr id="11" name="Shape 9"/>
          <p:cNvSpPr/>
          <p:nvPr/>
        </p:nvSpPr>
        <p:spPr>
          <a:xfrm>
            <a:off x="3063240" y="3429000"/>
            <a:ext cx="310896" cy="310896"/>
          </a:xfrm>
          <a:prstGeom prst="ellipse">
            <a:avLst/>
          </a:prstGeom>
          <a:solidFill>
            <a:srgbClr val="2C3850"/>
          </a:solidFill>
          <a:ln/>
        </p:spPr>
      </p:sp>
      <p:sp>
        <p:nvSpPr>
          <p:cNvPr id="12" name="Shape 10"/>
          <p:cNvSpPr/>
          <p:nvPr/>
        </p:nvSpPr>
        <p:spPr>
          <a:xfrm>
            <a:off x="4572000" y="3429000"/>
            <a:ext cx="310896" cy="310896"/>
          </a:xfrm>
          <a:prstGeom prst="ellipse">
            <a:avLst/>
          </a:prstGeom>
          <a:solidFill>
            <a:srgbClr val="FF4D5E"/>
          </a:solidFill>
          <a:ln/>
        </p:spPr>
      </p:sp>
      <p:sp>
        <p:nvSpPr>
          <p:cNvPr id="13" name="Text 11"/>
          <p:cNvSpPr/>
          <p:nvPr/>
        </p:nvSpPr>
        <p:spPr>
          <a:xfrm>
            <a:off x="914400" y="3977640"/>
            <a:ext cx="4663440" cy="320040"/>
          </a:xfrm>
          <a:prstGeom prst="rect">
            <a:avLst/>
          </a:prstGeom>
          <a:noFill/>
          <a:ln/>
        </p:spPr>
        <p:txBody>
          <a:bodyPr wrap="square" lIns="0" tIns="0" rIns="0" bIns="0" rtlCol="0" anchor="ctr"/>
          <a:lstStyle/>
          <a:p>
            <a:pPr indent="0" marL="0">
              <a:buNone/>
            </a:pPr>
            <a:r>
              <a:rPr lang="en-US" sz="1300" dirty="0">
                <a:solidFill>
                  <a:srgbClr val="E8EEF7"/>
                </a:solidFill>
                <a:latin typeface="Calibri" pitchFamily="34" charset="0"/>
                <a:ea typeface="Calibri" pitchFamily="34" charset="-122"/>
                <a:cs typeface="Calibri" pitchFamily="34" charset="-120"/>
              </a:rPr>
              <a:t>These two cannot see each other.</a:t>
            </a:r>
            <a:endParaRPr lang="en-US" sz="1300" dirty="0"/>
          </a:p>
        </p:txBody>
      </p:sp>
      <p:sp>
        <p:nvSpPr>
          <p:cNvPr id="14" name="Text 12"/>
          <p:cNvSpPr/>
          <p:nvPr/>
        </p:nvSpPr>
        <p:spPr>
          <a:xfrm>
            <a:off x="914400" y="4297680"/>
            <a:ext cx="4663440" cy="41148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Stock reports up and comes back down. There is no sideways.</a:t>
            </a:r>
            <a:endParaRPr lang="en-US" sz="1200" dirty="0"/>
          </a:p>
        </p:txBody>
      </p:sp>
      <p:sp>
        <p:nvSpPr>
          <p:cNvPr id="15" name="Shape 13"/>
          <p:cNvSpPr/>
          <p:nvPr/>
        </p:nvSpPr>
        <p:spPr>
          <a:xfrm>
            <a:off x="6336792" y="1920240"/>
            <a:ext cx="5212080" cy="2834640"/>
          </a:xfrm>
          <a:prstGeom prst="roundRect">
            <a:avLst>
              <a:gd name="adj" fmla="val 2581"/>
            </a:avLst>
          </a:prstGeom>
          <a:solidFill>
            <a:srgbClr val="161D2E"/>
          </a:solidFill>
          <a:ln w="12700">
            <a:solidFill>
              <a:srgbClr val="2DD4A7"/>
            </a:solidFill>
            <a:prstDash val="solid"/>
          </a:ln>
        </p:spPr>
      </p:sp>
      <p:sp>
        <p:nvSpPr>
          <p:cNvPr id="16" name="Text 14"/>
          <p:cNvSpPr/>
          <p:nvPr/>
        </p:nvSpPr>
        <p:spPr>
          <a:xfrm>
            <a:off x="6611112" y="2103120"/>
            <a:ext cx="4663440" cy="274320"/>
          </a:xfrm>
          <a:prstGeom prst="rect">
            <a:avLst/>
          </a:prstGeom>
          <a:noFill/>
          <a:ln/>
        </p:spPr>
        <p:txBody>
          <a:bodyPr wrap="square" lIns="0" tIns="0" rIns="0" bIns="0" rtlCol="0" anchor="ctr"/>
          <a:lstStyle/>
          <a:p>
            <a:pPr indent="0" marL="0">
              <a:buNone/>
            </a:pPr>
            <a:r>
              <a:rPr lang="en-US" sz="1200" b="1" spc="100" kern="0" dirty="0">
                <a:solidFill>
                  <a:srgbClr val="2DD4A7"/>
                </a:solidFill>
                <a:latin typeface="Calibri" pitchFamily="34" charset="0"/>
                <a:ea typeface="Calibri" pitchFamily="34" charset="-122"/>
                <a:cs typeface="Calibri" pitchFamily="34" charset="-120"/>
              </a:rPr>
              <a:t>MedMesh adds one edge</a:t>
            </a:r>
            <a:endParaRPr lang="en-US" sz="1200" dirty="0"/>
          </a:p>
        </p:txBody>
      </p:sp>
      <p:sp>
        <p:nvSpPr>
          <p:cNvPr id="17" name="Shape 15"/>
          <p:cNvSpPr/>
          <p:nvPr/>
        </p:nvSpPr>
        <p:spPr>
          <a:xfrm>
            <a:off x="8759952" y="2514600"/>
            <a:ext cx="310896" cy="310896"/>
          </a:xfrm>
          <a:prstGeom prst="ellipse">
            <a:avLst/>
          </a:prstGeom>
          <a:solidFill>
            <a:srgbClr val="94A3B8"/>
          </a:solidFill>
          <a:ln/>
        </p:spPr>
      </p:sp>
      <p:sp>
        <p:nvSpPr>
          <p:cNvPr id="18" name="Shape 16"/>
          <p:cNvSpPr/>
          <p:nvPr/>
        </p:nvSpPr>
        <p:spPr>
          <a:xfrm>
            <a:off x="8915400" y="2825496"/>
            <a:ext cx="-1508760" cy="603504"/>
          </a:xfrm>
          <a:prstGeom prst="line">
            <a:avLst/>
          </a:prstGeom>
          <a:noFill/>
          <a:ln w="19050">
            <a:solidFill>
              <a:srgbClr val="2C3850"/>
            </a:solidFill>
            <a:prstDash val="solid"/>
          </a:ln>
        </p:spPr>
      </p:sp>
      <p:sp>
        <p:nvSpPr>
          <p:cNvPr id="19" name="Shape 17"/>
          <p:cNvSpPr/>
          <p:nvPr/>
        </p:nvSpPr>
        <p:spPr>
          <a:xfrm>
            <a:off x="8915400" y="2825496"/>
            <a:ext cx="0" cy="603504"/>
          </a:xfrm>
          <a:prstGeom prst="line">
            <a:avLst/>
          </a:prstGeom>
          <a:noFill/>
          <a:ln w="19050">
            <a:solidFill>
              <a:srgbClr val="2C3850"/>
            </a:solidFill>
            <a:prstDash val="solid"/>
          </a:ln>
        </p:spPr>
      </p:sp>
      <p:sp>
        <p:nvSpPr>
          <p:cNvPr id="20" name="Shape 18"/>
          <p:cNvSpPr/>
          <p:nvPr/>
        </p:nvSpPr>
        <p:spPr>
          <a:xfrm>
            <a:off x="8915400" y="2825496"/>
            <a:ext cx="1508760" cy="603504"/>
          </a:xfrm>
          <a:prstGeom prst="line">
            <a:avLst/>
          </a:prstGeom>
          <a:noFill/>
          <a:ln w="19050">
            <a:solidFill>
              <a:srgbClr val="2C3850"/>
            </a:solidFill>
            <a:prstDash val="solid"/>
          </a:ln>
        </p:spPr>
      </p:sp>
      <p:sp>
        <p:nvSpPr>
          <p:cNvPr id="21" name="Shape 19"/>
          <p:cNvSpPr/>
          <p:nvPr/>
        </p:nvSpPr>
        <p:spPr>
          <a:xfrm>
            <a:off x="7251192" y="3429000"/>
            <a:ext cx="310896" cy="310896"/>
          </a:xfrm>
          <a:prstGeom prst="ellipse">
            <a:avLst/>
          </a:prstGeom>
          <a:solidFill>
            <a:srgbClr val="F5A524"/>
          </a:solidFill>
          <a:ln/>
        </p:spPr>
      </p:sp>
      <p:sp>
        <p:nvSpPr>
          <p:cNvPr id="22" name="Shape 20"/>
          <p:cNvSpPr/>
          <p:nvPr/>
        </p:nvSpPr>
        <p:spPr>
          <a:xfrm>
            <a:off x="8759952" y="3429000"/>
            <a:ext cx="310896" cy="310896"/>
          </a:xfrm>
          <a:prstGeom prst="ellipse">
            <a:avLst/>
          </a:prstGeom>
          <a:solidFill>
            <a:srgbClr val="2C3850"/>
          </a:solidFill>
          <a:ln/>
        </p:spPr>
      </p:sp>
      <p:sp>
        <p:nvSpPr>
          <p:cNvPr id="23" name="Shape 21"/>
          <p:cNvSpPr/>
          <p:nvPr/>
        </p:nvSpPr>
        <p:spPr>
          <a:xfrm>
            <a:off x="10268712" y="3429000"/>
            <a:ext cx="310896" cy="310896"/>
          </a:xfrm>
          <a:prstGeom prst="ellipse">
            <a:avLst/>
          </a:prstGeom>
          <a:solidFill>
            <a:srgbClr val="FF4D5E"/>
          </a:solidFill>
          <a:ln/>
        </p:spPr>
      </p:sp>
      <p:sp>
        <p:nvSpPr>
          <p:cNvPr id="24" name="Shape 22"/>
          <p:cNvSpPr/>
          <p:nvPr/>
        </p:nvSpPr>
        <p:spPr>
          <a:xfrm>
            <a:off x="7406640" y="3803904"/>
            <a:ext cx="3017520" cy="0"/>
          </a:xfrm>
          <a:prstGeom prst="line">
            <a:avLst/>
          </a:prstGeom>
          <a:noFill/>
          <a:ln w="31750">
            <a:solidFill>
              <a:srgbClr val="2DD4A7"/>
            </a:solidFill>
            <a:prstDash val="solid"/>
            <a:tailEnd type="triangle"/>
          </a:ln>
        </p:spPr>
      </p:sp>
      <p:sp>
        <p:nvSpPr>
          <p:cNvPr id="25" name="Text 23"/>
          <p:cNvSpPr/>
          <p:nvPr/>
        </p:nvSpPr>
        <p:spPr>
          <a:xfrm>
            <a:off x="6611112" y="3977640"/>
            <a:ext cx="4663440" cy="320040"/>
          </a:xfrm>
          <a:prstGeom prst="rect">
            <a:avLst/>
          </a:prstGeom>
          <a:noFill/>
          <a:ln/>
        </p:spPr>
        <p:txBody>
          <a:bodyPr wrap="square" lIns="0" tIns="0" rIns="0" bIns="0" rtlCol="0" anchor="ctr"/>
          <a:lstStyle/>
          <a:p>
            <a:pPr indent="0" marL="0">
              <a:buNone/>
            </a:pPr>
            <a:r>
              <a:rPr lang="en-US" sz="1300" dirty="0">
                <a:solidFill>
                  <a:srgbClr val="E8EEF7"/>
                </a:solidFill>
                <a:latin typeface="Calibri" pitchFamily="34" charset="0"/>
                <a:ea typeface="Calibri" pitchFamily="34" charset="-122"/>
                <a:cs typeface="Calibri" pitchFamily="34" charset="-120"/>
              </a:rPr>
              <a:t>Surplus moves to shortage.</a:t>
            </a:r>
            <a:endParaRPr lang="en-US" sz="1300" dirty="0"/>
          </a:p>
        </p:txBody>
      </p:sp>
      <p:sp>
        <p:nvSpPr>
          <p:cNvPr id="26" name="Text 24"/>
          <p:cNvSpPr/>
          <p:nvPr/>
        </p:nvSpPr>
        <p:spPr>
          <a:xfrm>
            <a:off x="6611112" y="4297680"/>
            <a:ext cx="4663440" cy="41148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One link, and the pair becomes visible to each other.</a:t>
            </a:r>
            <a:endParaRPr lang="en-US" sz="1200" dirty="0"/>
          </a:p>
        </p:txBody>
      </p:sp>
      <p:sp>
        <p:nvSpPr>
          <p:cNvPr id="27" name="Text 25"/>
          <p:cNvSpPr/>
          <p:nvPr/>
        </p:nvSpPr>
        <p:spPr>
          <a:xfrm>
            <a:off x="640080" y="4983480"/>
            <a:ext cx="10908792" cy="777240"/>
          </a:xfrm>
          <a:prstGeom prst="rect">
            <a:avLst/>
          </a:prstGeom>
          <a:noFill/>
          <a:ln/>
        </p:spPr>
        <p:txBody>
          <a:bodyPr wrap="square" lIns="0" tIns="0" rIns="0" bIns="0" rtlCol="0" anchor="ctr"/>
          <a:lstStyle/>
          <a:p>
            <a:pPr indent="0" marL="0">
              <a:lnSpc>
                <a:spcPct val="130000"/>
              </a:lnSpc>
              <a:buNone/>
            </a:pPr>
            <a:r>
              <a:rPr lang="en-US" sz="1300" dirty="0">
                <a:solidFill>
                  <a:srgbClr val="94A3B8"/>
                </a:solidFill>
                <a:latin typeface="Calibri" pitchFamily="34" charset="0"/>
                <a:ea typeface="Calibri" pitchFamily="34" charset="-122"/>
                <a:cs typeface="Calibri" pitchFamily="34" charset="-120"/>
              </a:rPr>
              <a:t>We did not invent this gap. The South African study states that the national pharmacy system "lacks a redistribution module". Redistribution is already policy in India, South Africa and Uganda. It runs on phone calls between pharmacists who happen to know each other.</a:t>
            </a:r>
            <a:endParaRPr lang="en-US" sz="1300" dirty="0"/>
          </a:p>
        </p:txBody>
      </p:sp>
      <p:pic>
        <p:nvPicPr>
          <p:cNvPr id="28"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29" name="Text 26"/>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30" name="Text 27"/>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THE INSIGHT</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Every medicine is racing two clocks.</a:t>
            </a:r>
            <a:endParaRPr lang="en-US" sz="3400" dirty="0"/>
          </a:p>
        </p:txBody>
      </p:sp>
      <p:sp>
        <p:nvSpPr>
          <p:cNvPr id="4" name="Shape 2"/>
          <p:cNvSpPr/>
          <p:nvPr/>
        </p:nvSpPr>
        <p:spPr>
          <a:xfrm>
            <a:off x="640080" y="2011680"/>
            <a:ext cx="5212080" cy="1828800"/>
          </a:xfrm>
          <a:prstGeom prst="roundRect">
            <a:avLst>
              <a:gd name="adj" fmla="val 4000"/>
            </a:avLst>
          </a:prstGeom>
          <a:solidFill>
            <a:srgbClr val="161D2E"/>
          </a:solidFill>
          <a:ln w="12700">
            <a:solidFill>
              <a:srgbClr val="2C3850"/>
            </a:solidFill>
            <a:prstDash val="solid"/>
          </a:ln>
        </p:spPr>
      </p:sp>
      <p:sp>
        <p:nvSpPr>
          <p:cNvPr id="5" name="Text 3"/>
          <p:cNvSpPr/>
          <p:nvPr/>
        </p:nvSpPr>
        <p:spPr>
          <a:xfrm>
            <a:off x="868680" y="2176272"/>
            <a:ext cx="4754880" cy="548640"/>
          </a:xfrm>
          <a:prstGeom prst="rect">
            <a:avLst/>
          </a:prstGeom>
          <a:noFill/>
          <a:ln/>
        </p:spPr>
        <p:txBody>
          <a:bodyPr wrap="square" lIns="0" tIns="0" rIns="0" bIns="0" rtlCol="0" anchor="ctr"/>
          <a:lstStyle/>
          <a:p>
            <a:pPr indent="0" marL="0">
              <a:buNone/>
            </a:pPr>
            <a:r>
              <a:rPr lang="en-US" sz="3000" b="1" dirty="0">
                <a:solidFill>
                  <a:srgbClr val="FF4D5E"/>
                </a:solidFill>
                <a:latin typeface="Calibri" pitchFamily="34" charset="0"/>
                <a:ea typeface="Calibri" pitchFamily="34" charset="-122"/>
                <a:cs typeface="Calibri" pitchFamily="34" charset="-120"/>
              </a:rPr>
              <a:t>Clock one</a:t>
            </a:r>
            <a:endParaRPr lang="en-US" sz="3000" dirty="0"/>
          </a:p>
        </p:txBody>
      </p:sp>
      <p:sp>
        <p:nvSpPr>
          <p:cNvPr id="6" name="Text 4"/>
          <p:cNvSpPr/>
          <p:nvPr/>
        </p:nvSpPr>
        <p:spPr>
          <a:xfrm>
            <a:off x="868680" y="2724912"/>
            <a:ext cx="475488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The day it runs out</a:t>
            </a:r>
            <a:endParaRPr lang="en-US" sz="1200" dirty="0"/>
          </a:p>
        </p:txBody>
      </p:sp>
      <p:sp>
        <p:nvSpPr>
          <p:cNvPr id="7" name="Text 5"/>
          <p:cNvSpPr/>
          <p:nvPr/>
        </p:nvSpPr>
        <p:spPr>
          <a:xfrm>
            <a:off x="868680" y="3401568"/>
            <a:ext cx="475488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Tracked badly by existing systems</a:t>
            </a:r>
            <a:endParaRPr lang="en-US" sz="1000" dirty="0"/>
          </a:p>
        </p:txBody>
      </p:sp>
      <p:sp>
        <p:nvSpPr>
          <p:cNvPr id="8" name="Shape 6"/>
          <p:cNvSpPr/>
          <p:nvPr/>
        </p:nvSpPr>
        <p:spPr>
          <a:xfrm>
            <a:off x="6336792" y="2011680"/>
            <a:ext cx="5212080" cy="1828800"/>
          </a:xfrm>
          <a:prstGeom prst="roundRect">
            <a:avLst>
              <a:gd name="adj" fmla="val 4000"/>
            </a:avLst>
          </a:prstGeom>
          <a:solidFill>
            <a:srgbClr val="161D2E"/>
          </a:solidFill>
          <a:ln w="12700">
            <a:solidFill>
              <a:srgbClr val="2C3850"/>
            </a:solidFill>
            <a:prstDash val="solid"/>
          </a:ln>
        </p:spPr>
      </p:sp>
      <p:sp>
        <p:nvSpPr>
          <p:cNvPr id="9" name="Text 7"/>
          <p:cNvSpPr/>
          <p:nvPr/>
        </p:nvSpPr>
        <p:spPr>
          <a:xfrm>
            <a:off x="6565392" y="2176272"/>
            <a:ext cx="4754880" cy="548640"/>
          </a:xfrm>
          <a:prstGeom prst="rect">
            <a:avLst/>
          </a:prstGeom>
          <a:noFill/>
          <a:ln/>
        </p:spPr>
        <p:txBody>
          <a:bodyPr wrap="square" lIns="0" tIns="0" rIns="0" bIns="0" rtlCol="0" anchor="ctr"/>
          <a:lstStyle/>
          <a:p>
            <a:pPr indent="0" marL="0">
              <a:buNone/>
            </a:pPr>
            <a:r>
              <a:rPr lang="en-US" sz="3000" b="1" dirty="0">
                <a:solidFill>
                  <a:srgbClr val="F5A524"/>
                </a:solidFill>
                <a:latin typeface="Calibri" pitchFamily="34" charset="0"/>
                <a:ea typeface="Calibri" pitchFamily="34" charset="-122"/>
                <a:cs typeface="Calibri" pitchFamily="34" charset="-120"/>
              </a:rPr>
              <a:t>Clock two</a:t>
            </a:r>
            <a:endParaRPr lang="en-US" sz="3000" dirty="0"/>
          </a:p>
        </p:txBody>
      </p:sp>
      <p:sp>
        <p:nvSpPr>
          <p:cNvPr id="10" name="Text 8"/>
          <p:cNvSpPr/>
          <p:nvPr/>
        </p:nvSpPr>
        <p:spPr>
          <a:xfrm>
            <a:off x="6565392" y="2724912"/>
            <a:ext cx="475488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The day it expires</a:t>
            </a:r>
            <a:endParaRPr lang="en-US" sz="1200" dirty="0"/>
          </a:p>
        </p:txBody>
      </p:sp>
      <p:sp>
        <p:nvSpPr>
          <p:cNvPr id="11" name="Text 9"/>
          <p:cNvSpPr/>
          <p:nvPr/>
        </p:nvSpPr>
        <p:spPr>
          <a:xfrm>
            <a:off x="6565392" y="3401568"/>
            <a:ext cx="475488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Tracked by almost nobody</a:t>
            </a:r>
            <a:endParaRPr lang="en-US" sz="1000" dirty="0"/>
          </a:p>
        </p:txBody>
      </p:sp>
      <p:sp>
        <p:nvSpPr>
          <p:cNvPr id="12" name="Text 10"/>
          <p:cNvSpPr/>
          <p:nvPr/>
        </p:nvSpPr>
        <p:spPr>
          <a:xfrm>
            <a:off x="640080" y="4114800"/>
            <a:ext cx="10908792" cy="914400"/>
          </a:xfrm>
          <a:prstGeom prst="rect">
            <a:avLst/>
          </a:prstGeom>
          <a:noFill/>
          <a:ln/>
        </p:spPr>
        <p:txBody>
          <a:bodyPr wrap="square" lIns="0" tIns="0" rIns="0" bIns="0" rtlCol="0" anchor="ctr"/>
          <a:lstStyle/>
          <a:p>
            <a:pPr indent="0" marL="0">
              <a:lnSpc>
                <a:spcPct val="135000"/>
              </a:lnSpc>
              <a:buNone/>
            </a:pPr>
            <a:r>
              <a:rPr lang="en-US" sz="1500" dirty="0">
                <a:solidFill>
                  <a:srgbClr val="E8EEF7"/>
                </a:solidFill>
                <a:latin typeface="Calibri" pitchFamily="34" charset="0"/>
                <a:ea typeface="Calibri" pitchFamily="34" charset="-122"/>
                <a:cs typeface="Calibri" pitchFamily="34" charset="-120"/>
              </a:rPr>
              <a:t>Ask those two questions separately and the answers quietly contradict each other. Ask them together, over the same stock, in one simulation, and you get the truth: a facility can be days from empty while holding stock it will never use.</a:t>
            </a:r>
            <a:endParaRPr lang="en-US" sz="1500" dirty="0"/>
          </a:p>
        </p:txBody>
      </p:sp>
      <p:sp>
        <p:nvSpPr>
          <p:cNvPr id="13" name="Text 11"/>
          <p:cNvSpPr/>
          <p:nvPr/>
        </p:nvSpPr>
        <p:spPr>
          <a:xfrm>
            <a:off x="640080" y="5120640"/>
            <a:ext cx="10908792" cy="457200"/>
          </a:xfrm>
          <a:prstGeom prst="rect">
            <a:avLst/>
          </a:prstGeom>
          <a:noFill/>
          <a:ln/>
        </p:spPr>
        <p:txBody>
          <a:bodyPr wrap="square" lIns="0" tIns="0" rIns="0" bIns="0" rtlCol="0" anchor="ctr"/>
          <a:lstStyle/>
          <a:p>
            <a:pPr indent="0" marL="0">
              <a:buNone/>
            </a:pPr>
            <a:r>
              <a:rPr lang="en-US" sz="1900" b="1" dirty="0">
                <a:solidFill>
                  <a:srgbClr val="2DD4A7"/>
                </a:solidFill>
                <a:latin typeface="Calibri" pitchFamily="34" charset="0"/>
                <a:ea typeface="Calibri" pitchFamily="34" charset="-122"/>
                <a:cs typeface="Calibri" pitchFamily="34" charset="-120"/>
              </a:rPr>
              <a:t>Where those clocks collide across two facilities, there is a transfer worth making.</a:t>
            </a:r>
            <a:endParaRPr lang="en-US" sz="1900" dirty="0"/>
          </a:p>
        </p:txBody>
      </p:sp>
      <p:pic>
        <p:nvPicPr>
          <p:cNvPr id="14"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15" name="Text 12"/>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16" name="Text 13"/>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Three steps, and the first one is the hard one.</a:t>
            </a:r>
            <a:endParaRPr lang="en-US" sz="3400" dirty="0"/>
          </a:p>
        </p:txBody>
      </p:sp>
      <p:sp>
        <p:nvSpPr>
          <p:cNvPr id="4" name="Shape 2"/>
          <p:cNvSpPr/>
          <p:nvPr/>
        </p:nvSpPr>
        <p:spPr>
          <a:xfrm>
            <a:off x="640080" y="1874520"/>
            <a:ext cx="3429000" cy="3291840"/>
          </a:xfrm>
          <a:prstGeom prst="roundRect">
            <a:avLst>
              <a:gd name="adj" fmla="val 2222"/>
            </a:avLst>
          </a:prstGeom>
          <a:solidFill>
            <a:srgbClr val="161D2E"/>
          </a:solidFill>
          <a:ln w="12700">
            <a:solidFill>
              <a:srgbClr val="2C3850"/>
            </a:solidFill>
            <a:prstDash val="solid"/>
          </a:ln>
        </p:spPr>
      </p:sp>
      <p:sp>
        <p:nvSpPr>
          <p:cNvPr id="5" name="Text 3"/>
          <p:cNvSpPr/>
          <p:nvPr/>
        </p:nvSpPr>
        <p:spPr>
          <a:xfrm>
            <a:off x="896112" y="2057400"/>
            <a:ext cx="914400" cy="320040"/>
          </a:xfrm>
          <a:prstGeom prst="rect">
            <a:avLst/>
          </a:prstGeom>
          <a:noFill/>
          <a:ln/>
        </p:spPr>
        <p:txBody>
          <a:bodyPr wrap="square" lIns="0" tIns="0" rIns="0" bIns="0" rtlCol="0" anchor="ctr"/>
          <a:lstStyle/>
          <a:p>
            <a:pPr indent="0" marL="0">
              <a:buNone/>
            </a:pPr>
            <a:r>
              <a:rPr lang="en-US" sz="1500" b="1" dirty="0">
                <a:solidFill>
                  <a:srgbClr val="2DD4A7"/>
                </a:solidFill>
                <a:latin typeface="Calibri" pitchFamily="34" charset="0"/>
                <a:ea typeface="Calibri" pitchFamily="34" charset="-122"/>
                <a:cs typeface="Calibri" pitchFamily="34" charset="-120"/>
              </a:rPr>
              <a:t>01</a:t>
            </a:r>
            <a:endParaRPr lang="en-US" sz="1500" dirty="0"/>
          </a:p>
        </p:txBody>
      </p:sp>
      <p:sp>
        <p:nvSpPr>
          <p:cNvPr id="6" name="Text 4"/>
          <p:cNvSpPr/>
          <p:nvPr/>
        </p:nvSpPr>
        <p:spPr>
          <a:xfrm>
            <a:off x="896112" y="2423160"/>
            <a:ext cx="2926080" cy="685800"/>
          </a:xfrm>
          <a:prstGeom prst="rect">
            <a:avLst/>
          </a:prstGeom>
          <a:noFill/>
          <a:ln/>
        </p:spPr>
        <p:txBody>
          <a:bodyPr wrap="square" lIns="0" tIns="0" rIns="0" bIns="0" rtlCol="0" anchor="t"/>
          <a:lstStyle/>
          <a:p>
            <a:pPr indent="0" marL="0">
              <a:buNone/>
            </a:pPr>
            <a:r>
              <a:rPr lang="en-US" sz="1500" b="1" dirty="0">
                <a:solidFill>
                  <a:srgbClr val="E8EEF7"/>
                </a:solidFill>
                <a:latin typeface="Calibri" pitchFamily="34" charset="0"/>
                <a:ea typeface="Calibri" pitchFamily="34" charset="-122"/>
                <a:cs typeface="Calibri" pitchFamily="34" charset="-120"/>
              </a:rPr>
              <a:t>Read what the clinic already keeps</a:t>
            </a:r>
            <a:endParaRPr lang="en-US" sz="1500" dirty="0"/>
          </a:p>
        </p:txBody>
      </p:sp>
      <p:sp>
        <p:nvSpPr>
          <p:cNvPr id="7" name="Text 5"/>
          <p:cNvSpPr/>
          <p:nvPr/>
        </p:nvSpPr>
        <p:spPr>
          <a:xfrm>
            <a:off x="896112" y="3154680"/>
            <a:ext cx="2926080" cy="1600200"/>
          </a:xfrm>
          <a:prstGeom prst="rect">
            <a:avLst/>
          </a:prstGeom>
          <a:noFill/>
          <a:ln/>
        </p:spPr>
        <p:txBody>
          <a:bodyPr wrap="square" lIns="0" tIns="0" rIns="0" bIns="0" rtlCol="0" anchor="t"/>
          <a:lstStyle/>
          <a:p>
            <a:pPr indent="0" marL="0">
              <a:lnSpc>
                <a:spcPct val="125000"/>
              </a:lnSpc>
              <a:buNone/>
            </a:pPr>
            <a:r>
              <a:rPr lang="en-US" sz="1150" dirty="0">
                <a:solidFill>
                  <a:srgbClr val="94A3B8"/>
                </a:solidFill>
                <a:latin typeface="Calibri" pitchFamily="34" charset="0"/>
                <a:ea typeface="Calibri" pitchFamily="34" charset="-122"/>
                <a:cs typeface="Calibri" pitchFamily="34" charset="-120"/>
              </a:rPr>
              <a:t>Most primary facilities never file a digital stock count. They keep a paper register and have no intention of adopting software. Gemini reads a phone photo of that page, or a spoken report in Hindi, Portuguese or isiZulu.</a:t>
            </a:r>
            <a:endParaRPr lang="en-US" sz="1150" dirty="0"/>
          </a:p>
        </p:txBody>
      </p:sp>
      <p:sp>
        <p:nvSpPr>
          <p:cNvPr id="8" name="Text 6"/>
          <p:cNvSpPr/>
          <p:nvPr/>
        </p:nvSpPr>
        <p:spPr>
          <a:xfrm>
            <a:off x="896112" y="4773168"/>
            <a:ext cx="2926080" cy="274320"/>
          </a:xfrm>
          <a:prstGeom prst="rect">
            <a:avLst/>
          </a:prstGeom>
          <a:noFill/>
          <a:ln/>
        </p:spPr>
        <p:txBody>
          <a:bodyPr wrap="square" lIns="0" tIns="0" rIns="0" bIns="0" rtlCol="0" anchor="ctr"/>
          <a:lstStyle/>
          <a:p>
            <a:pPr indent="0" marL="0">
              <a:buNone/>
            </a:pPr>
            <a:r>
              <a:rPr lang="en-US" sz="1100" b="1" dirty="0">
                <a:solidFill>
                  <a:srgbClr val="2DD4A7"/>
                </a:solidFill>
                <a:latin typeface="Calibri" pitchFamily="34" charset="0"/>
                <a:ea typeface="Calibri" pitchFamily="34" charset="-122"/>
                <a:cs typeface="Calibri" pitchFamily="34" charset="-120"/>
              </a:rPr>
              <a:t>42 of 42 rows correct</a:t>
            </a:r>
            <a:endParaRPr lang="en-US" sz="1100" dirty="0"/>
          </a:p>
        </p:txBody>
      </p:sp>
      <p:sp>
        <p:nvSpPr>
          <p:cNvPr id="9" name="Shape 7"/>
          <p:cNvSpPr/>
          <p:nvPr/>
        </p:nvSpPr>
        <p:spPr>
          <a:xfrm>
            <a:off x="4379976" y="1874520"/>
            <a:ext cx="3429000" cy="3291840"/>
          </a:xfrm>
          <a:prstGeom prst="roundRect">
            <a:avLst>
              <a:gd name="adj" fmla="val 2222"/>
            </a:avLst>
          </a:prstGeom>
          <a:solidFill>
            <a:srgbClr val="161D2E"/>
          </a:solidFill>
          <a:ln w="12700">
            <a:solidFill>
              <a:srgbClr val="2C3850"/>
            </a:solidFill>
            <a:prstDash val="solid"/>
          </a:ln>
        </p:spPr>
      </p:sp>
      <p:sp>
        <p:nvSpPr>
          <p:cNvPr id="10" name="Text 8"/>
          <p:cNvSpPr/>
          <p:nvPr/>
        </p:nvSpPr>
        <p:spPr>
          <a:xfrm>
            <a:off x="4636008" y="2057400"/>
            <a:ext cx="914400" cy="320040"/>
          </a:xfrm>
          <a:prstGeom prst="rect">
            <a:avLst/>
          </a:prstGeom>
          <a:noFill/>
          <a:ln/>
        </p:spPr>
        <p:txBody>
          <a:bodyPr wrap="square" lIns="0" tIns="0" rIns="0" bIns="0" rtlCol="0" anchor="ctr"/>
          <a:lstStyle/>
          <a:p>
            <a:pPr indent="0" marL="0">
              <a:buNone/>
            </a:pPr>
            <a:r>
              <a:rPr lang="en-US" sz="1500" b="1" dirty="0">
                <a:solidFill>
                  <a:srgbClr val="2DD4A7"/>
                </a:solidFill>
                <a:latin typeface="Calibri" pitchFamily="34" charset="0"/>
                <a:ea typeface="Calibri" pitchFamily="34" charset="-122"/>
                <a:cs typeface="Calibri" pitchFamily="34" charset="-120"/>
              </a:rPr>
              <a:t>02</a:t>
            </a:r>
            <a:endParaRPr lang="en-US" sz="1500" dirty="0"/>
          </a:p>
        </p:txBody>
      </p:sp>
      <p:sp>
        <p:nvSpPr>
          <p:cNvPr id="11" name="Text 9"/>
          <p:cNvSpPr/>
          <p:nvPr/>
        </p:nvSpPr>
        <p:spPr>
          <a:xfrm>
            <a:off x="4636008" y="2423160"/>
            <a:ext cx="2926080" cy="685800"/>
          </a:xfrm>
          <a:prstGeom prst="rect">
            <a:avLst/>
          </a:prstGeom>
          <a:noFill/>
          <a:ln/>
        </p:spPr>
        <p:txBody>
          <a:bodyPr wrap="square" lIns="0" tIns="0" rIns="0" bIns="0" rtlCol="0" anchor="t"/>
          <a:lstStyle/>
          <a:p>
            <a:pPr indent="0" marL="0">
              <a:buNone/>
            </a:pPr>
            <a:r>
              <a:rPr lang="en-US" sz="1500" b="1" dirty="0">
                <a:solidFill>
                  <a:srgbClr val="E8EEF7"/>
                </a:solidFill>
                <a:latin typeface="Calibri" pitchFamily="34" charset="0"/>
                <a:ea typeface="Calibri" pitchFamily="34" charset="-122"/>
                <a:cs typeface="Calibri" pitchFamily="34" charset="-120"/>
              </a:rPr>
              <a:t>Run both clocks at once</a:t>
            </a:r>
            <a:endParaRPr lang="en-US" sz="1500" dirty="0"/>
          </a:p>
        </p:txBody>
      </p:sp>
      <p:sp>
        <p:nvSpPr>
          <p:cNvPr id="12" name="Text 10"/>
          <p:cNvSpPr/>
          <p:nvPr/>
        </p:nvSpPr>
        <p:spPr>
          <a:xfrm>
            <a:off x="4636008" y="3154680"/>
            <a:ext cx="2926080" cy="1600200"/>
          </a:xfrm>
          <a:prstGeom prst="rect">
            <a:avLst/>
          </a:prstGeom>
          <a:noFill/>
          <a:ln/>
        </p:spPr>
        <p:txBody>
          <a:bodyPr wrap="square" lIns="0" tIns="0" rIns="0" bIns="0" rtlCol="0" anchor="t"/>
          <a:lstStyle/>
          <a:p>
            <a:pPr indent="0" marL="0">
              <a:lnSpc>
                <a:spcPct val="125000"/>
              </a:lnSpc>
              <a:buNone/>
            </a:pPr>
            <a:r>
              <a:rPr lang="en-US" sz="1150" dirty="0">
                <a:solidFill>
                  <a:srgbClr val="94A3B8"/>
                </a:solidFill>
                <a:latin typeface="Calibri" pitchFamily="34" charset="0"/>
                <a:ea typeface="Calibri" pitchFamily="34" charset="-122"/>
                <a:cs typeface="Calibri" pitchFamily="34" charset="-120"/>
              </a:rPr>
              <a:t>Days until it runs out and days until it expires, projected together over the same stock in one first-expiry-first-out simulation. Season-aware, because season-blind ordering is the failure being corrected.</a:t>
            </a:r>
            <a:endParaRPr lang="en-US" sz="1150" dirty="0"/>
          </a:p>
        </p:txBody>
      </p:sp>
      <p:sp>
        <p:nvSpPr>
          <p:cNvPr id="13" name="Text 11"/>
          <p:cNvSpPr/>
          <p:nvPr/>
        </p:nvSpPr>
        <p:spPr>
          <a:xfrm>
            <a:off x="4636008" y="4773168"/>
            <a:ext cx="2926080" cy="274320"/>
          </a:xfrm>
          <a:prstGeom prst="rect">
            <a:avLst/>
          </a:prstGeom>
          <a:noFill/>
          <a:ln/>
        </p:spPr>
        <p:txBody>
          <a:bodyPr wrap="square" lIns="0" tIns="0" rIns="0" bIns="0" rtlCol="0" anchor="ctr"/>
          <a:lstStyle/>
          <a:p>
            <a:pPr indent="0" marL="0">
              <a:buNone/>
            </a:pPr>
            <a:r>
              <a:rPr lang="en-US" sz="1100" b="1" dirty="0">
                <a:solidFill>
                  <a:srgbClr val="2DD4A7"/>
                </a:solidFill>
                <a:latin typeface="Calibri" pitchFamily="34" charset="0"/>
                <a:ea typeface="Calibri" pitchFamily="34" charset="-122"/>
                <a:cs typeface="Calibri" pitchFamily="34" charset="-120"/>
              </a:rPr>
              <a:t>Seasonal forecast</a:t>
            </a:r>
            <a:endParaRPr lang="en-US" sz="1100" dirty="0"/>
          </a:p>
        </p:txBody>
      </p:sp>
      <p:sp>
        <p:nvSpPr>
          <p:cNvPr id="14" name="Shape 12"/>
          <p:cNvSpPr/>
          <p:nvPr/>
        </p:nvSpPr>
        <p:spPr>
          <a:xfrm>
            <a:off x="8119872" y="1874520"/>
            <a:ext cx="3429000" cy="3291840"/>
          </a:xfrm>
          <a:prstGeom prst="roundRect">
            <a:avLst>
              <a:gd name="adj" fmla="val 2222"/>
            </a:avLst>
          </a:prstGeom>
          <a:solidFill>
            <a:srgbClr val="161D2E"/>
          </a:solidFill>
          <a:ln w="12700">
            <a:solidFill>
              <a:srgbClr val="2C3850"/>
            </a:solidFill>
            <a:prstDash val="solid"/>
          </a:ln>
        </p:spPr>
      </p:sp>
      <p:sp>
        <p:nvSpPr>
          <p:cNvPr id="15" name="Text 13"/>
          <p:cNvSpPr/>
          <p:nvPr/>
        </p:nvSpPr>
        <p:spPr>
          <a:xfrm>
            <a:off x="8375904" y="2057400"/>
            <a:ext cx="914400" cy="320040"/>
          </a:xfrm>
          <a:prstGeom prst="rect">
            <a:avLst/>
          </a:prstGeom>
          <a:noFill/>
          <a:ln/>
        </p:spPr>
        <p:txBody>
          <a:bodyPr wrap="square" lIns="0" tIns="0" rIns="0" bIns="0" rtlCol="0" anchor="ctr"/>
          <a:lstStyle/>
          <a:p>
            <a:pPr indent="0" marL="0">
              <a:buNone/>
            </a:pPr>
            <a:r>
              <a:rPr lang="en-US" sz="1500" b="1" dirty="0">
                <a:solidFill>
                  <a:srgbClr val="2DD4A7"/>
                </a:solidFill>
                <a:latin typeface="Calibri" pitchFamily="34" charset="0"/>
                <a:ea typeface="Calibri" pitchFamily="34" charset="-122"/>
                <a:cs typeface="Calibri" pitchFamily="34" charset="-120"/>
              </a:rPr>
              <a:t>03</a:t>
            </a:r>
            <a:endParaRPr lang="en-US" sz="1500" dirty="0"/>
          </a:p>
        </p:txBody>
      </p:sp>
      <p:sp>
        <p:nvSpPr>
          <p:cNvPr id="16" name="Text 14"/>
          <p:cNvSpPr/>
          <p:nvPr/>
        </p:nvSpPr>
        <p:spPr>
          <a:xfrm>
            <a:off x="8375904" y="2423160"/>
            <a:ext cx="2926080" cy="685800"/>
          </a:xfrm>
          <a:prstGeom prst="rect">
            <a:avLst/>
          </a:prstGeom>
          <a:noFill/>
          <a:ln/>
        </p:spPr>
        <p:txBody>
          <a:bodyPr wrap="square" lIns="0" tIns="0" rIns="0" bIns="0" rtlCol="0" anchor="t"/>
          <a:lstStyle/>
          <a:p>
            <a:pPr indent="0" marL="0">
              <a:buNone/>
            </a:pPr>
            <a:r>
              <a:rPr lang="en-US" sz="1500" b="1" dirty="0">
                <a:solidFill>
                  <a:srgbClr val="E8EEF7"/>
                </a:solidFill>
                <a:latin typeface="Calibri" pitchFamily="34" charset="0"/>
                <a:ea typeface="Calibri" pitchFamily="34" charset="-122"/>
                <a:cs typeface="Calibri" pitchFamily="34" charset="-120"/>
              </a:rPr>
              <a:t>Move it, and say why</a:t>
            </a:r>
            <a:endParaRPr lang="en-US" sz="1500" dirty="0"/>
          </a:p>
        </p:txBody>
      </p:sp>
      <p:sp>
        <p:nvSpPr>
          <p:cNvPr id="17" name="Text 15"/>
          <p:cNvSpPr/>
          <p:nvPr/>
        </p:nvSpPr>
        <p:spPr>
          <a:xfrm>
            <a:off x="8375904" y="3154680"/>
            <a:ext cx="2926080" cy="1600200"/>
          </a:xfrm>
          <a:prstGeom prst="rect">
            <a:avLst/>
          </a:prstGeom>
          <a:noFill/>
          <a:ln/>
        </p:spPr>
        <p:txBody>
          <a:bodyPr wrap="square" lIns="0" tIns="0" rIns="0" bIns="0" rtlCol="0" anchor="t"/>
          <a:lstStyle/>
          <a:p>
            <a:pPr indent="0" marL="0">
              <a:lnSpc>
                <a:spcPct val="125000"/>
              </a:lnSpc>
              <a:buNone/>
            </a:pPr>
            <a:r>
              <a:rPr lang="en-US" sz="1150" dirty="0">
                <a:solidFill>
                  <a:srgbClr val="94A3B8"/>
                </a:solidFill>
                <a:latin typeface="Calibri" pitchFamily="34" charset="0"/>
                <a:ea typeface="Calibri" pitchFamily="34" charset="-122"/>
                <a:cs typeface="Calibri" pitchFamily="34" charset="-120"/>
              </a:rPr>
              <a:t>A committed count re-runs both clocks and re-runs the matcher across the district. One photographed page moved 13 medicines between states and created 11 transfers that did not exist a moment before. Gemini writes the justification; a human approves.</a:t>
            </a:r>
            <a:endParaRPr lang="en-US" sz="1150" dirty="0"/>
          </a:p>
        </p:txBody>
      </p:sp>
      <p:sp>
        <p:nvSpPr>
          <p:cNvPr id="18" name="Text 16"/>
          <p:cNvSpPr/>
          <p:nvPr/>
        </p:nvSpPr>
        <p:spPr>
          <a:xfrm>
            <a:off x="8375904" y="4773168"/>
            <a:ext cx="2926080" cy="274320"/>
          </a:xfrm>
          <a:prstGeom prst="rect">
            <a:avLst/>
          </a:prstGeom>
          <a:noFill/>
          <a:ln/>
        </p:spPr>
        <p:txBody>
          <a:bodyPr wrap="square" lIns="0" tIns="0" rIns="0" bIns="0" rtlCol="0" anchor="ctr"/>
          <a:lstStyle/>
          <a:p>
            <a:pPr indent="0" marL="0">
              <a:buNone/>
            </a:pPr>
            <a:r>
              <a:rPr lang="en-US" sz="1100" b="1" dirty="0">
                <a:solidFill>
                  <a:srgbClr val="2DD4A7"/>
                </a:solidFill>
                <a:latin typeface="Calibri" pitchFamily="34" charset="0"/>
                <a:ea typeface="Calibri" pitchFamily="34" charset="-122"/>
                <a:cs typeface="Calibri" pitchFamily="34" charset="-120"/>
              </a:rPr>
              <a:t>Paper to transfer, one request</a:t>
            </a:r>
            <a:endParaRPr lang="en-US" sz="1100" dirty="0"/>
          </a:p>
        </p:txBody>
      </p:sp>
      <p:pic>
        <p:nvPicPr>
          <p:cNvPr id="19"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20" name="Text 17"/>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21" name="Text 18"/>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WHERE GOOGLE AI DOES THE WORK</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Load-bearing, not decorative.</a:t>
            </a:r>
            <a:endParaRPr lang="en-US" sz="3400" dirty="0"/>
          </a:p>
        </p:txBody>
      </p:sp>
      <p:sp>
        <p:nvSpPr>
          <p:cNvPr id="4" name="Shape 2"/>
          <p:cNvSpPr/>
          <p:nvPr/>
        </p:nvSpPr>
        <p:spPr>
          <a:xfrm>
            <a:off x="640080" y="1874520"/>
            <a:ext cx="10908792" cy="914400"/>
          </a:xfrm>
          <a:prstGeom prst="roundRect">
            <a:avLst>
              <a:gd name="adj" fmla="val 6000"/>
            </a:avLst>
          </a:prstGeom>
          <a:solidFill>
            <a:srgbClr val="161D2E"/>
          </a:solidFill>
          <a:ln w="12700">
            <a:solidFill>
              <a:srgbClr val="2C3850"/>
            </a:solidFill>
            <a:prstDash val="solid"/>
          </a:ln>
        </p:spPr>
      </p:sp>
      <p:sp>
        <p:nvSpPr>
          <p:cNvPr id="5" name="Text 3"/>
          <p:cNvSpPr/>
          <p:nvPr/>
        </p:nvSpPr>
        <p:spPr>
          <a:xfrm>
            <a:off x="914400" y="2002536"/>
            <a:ext cx="3200400" cy="310896"/>
          </a:xfrm>
          <a:prstGeom prst="rect">
            <a:avLst/>
          </a:prstGeom>
          <a:noFill/>
          <a:ln/>
        </p:spPr>
        <p:txBody>
          <a:bodyPr wrap="square" lIns="0" tIns="0" rIns="0" bIns="0" rtlCol="0" anchor="ctr"/>
          <a:lstStyle/>
          <a:p>
            <a:pPr indent="0" marL="0">
              <a:buNone/>
            </a:pPr>
            <a:r>
              <a:rPr lang="en-US" sz="1400" b="1" dirty="0">
                <a:solidFill>
                  <a:srgbClr val="E8EEF7"/>
                </a:solidFill>
                <a:latin typeface="Calibri" pitchFamily="34" charset="0"/>
                <a:ea typeface="Calibri" pitchFamily="34" charset="-122"/>
                <a:cs typeface="Calibri" pitchFamily="34" charset="-120"/>
              </a:rPr>
              <a:t>Read handwritten paper registers</a:t>
            </a:r>
            <a:endParaRPr lang="en-US" sz="1400" dirty="0"/>
          </a:p>
        </p:txBody>
      </p:sp>
      <p:sp>
        <p:nvSpPr>
          <p:cNvPr id="6" name="Text 4"/>
          <p:cNvSpPr/>
          <p:nvPr/>
        </p:nvSpPr>
        <p:spPr>
          <a:xfrm>
            <a:off x="914400" y="2331720"/>
            <a:ext cx="3200400" cy="292608"/>
          </a:xfrm>
          <a:prstGeom prst="rect">
            <a:avLst/>
          </a:prstGeom>
          <a:noFill/>
          <a:ln/>
        </p:spPr>
        <p:txBody>
          <a:bodyPr wrap="square" lIns="0" tIns="0" rIns="0" bIns="0" rtlCol="0" anchor="ctr"/>
          <a:lstStyle/>
          <a:p>
            <a:pPr indent="0" marL="0">
              <a:buNone/>
            </a:pPr>
            <a:r>
              <a:rPr lang="en-US" sz="1100" dirty="0">
                <a:solidFill>
                  <a:srgbClr val="2DD4A7"/>
                </a:solidFill>
                <a:latin typeface="Calibri" pitchFamily="34" charset="0"/>
                <a:ea typeface="Calibri" pitchFamily="34" charset="-122"/>
                <a:cs typeface="Calibri" pitchFamily="34" charset="-120"/>
              </a:rPr>
              <a:t>gemini-3.1-flash-lite, vision</a:t>
            </a:r>
            <a:endParaRPr lang="en-US" sz="1100" dirty="0"/>
          </a:p>
        </p:txBody>
      </p:sp>
      <p:sp>
        <p:nvSpPr>
          <p:cNvPr id="7" name="Text 5"/>
          <p:cNvSpPr/>
          <p:nvPr/>
        </p:nvSpPr>
        <p:spPr>
          <a:xfrm>
            <a:off x="4389120" y="2075688"/>
            <a:ext cx="6858000" cy="548640"/>
          </a:xfrm>
          <a:prstGeom prst="rect">
            <a:avLst/>
          </a:prstGeom>
          <a:noFill/>
          <a:ln/>
        </p:spPr>
        <p:txBody>
          <a:bodyPr wrap="square" lIns="0" tIns="0" rIns="0" bIns="0" rtlCol="0" anchor="ctr"/>
          <a:lstStyle/>
          <a:p>
            <a:pPr indent="0" marL="0">
              <a:lnSpc>
                <a:spcPct val="120000"/>
              </a:lnSpc>
              <a:buNone/>
            </a:pPr>
            <a:r>
              <a:rPr lang="en-US" sz="1250" dirty="0">
                <a:solidFill>
                  <a:srgbClr val="94A3B8"/>
                </a:solidFill>
                <a:latin typeface="Calibri" pitchFamily="34" charset="0"/>
                <a:ea typeface="Calibri" pitchFamily="34" charset="-122"/>
                <a:cs typeface="Calibri" pitchFamily="34" charset="-120"/>
              </a:rPr>
              <a:t>The entire last mile. Without it, facilities with no digital system cannot join at all.</a:t>
            </a:r>
            <a:endParaRPr lang="en-US" sz="1250" dirty="0"/>
          </a:p>
        </p:txBody>
      </p:sp>
      <p:sp>
        <p:nvSpPr>
          <p:cNvPr id="8" name="Shape 6"/>
          <p:cNvSpPr/>
          <p:nvPr/>
        </p:nvSpPr>
        <p:spPr>
          <a:xfrm>
            <a:off x="640080" y="2926080"/>
            <a:ext cx="10908792" cy="914400"/>
          </a:xfrm>
          <a:prstGeom prst="roundRect">
            <a:avLst>
              <a:gd name="adj" fmla="val 6000"/>
            </a:avLst>
          </a:prstGeom>
          <a:solidFill>
            <a:srgbClr val="161D2E"/>
          </a:solidFill>
          <a:ln w="12700">
            <a:solidFill>
              <a:srgbClr val="2C3850"/>
            </a:solidFill>
            <a:prstDash val="solid"/>
          </a:ln>
        </p:spPr>
      </p:sp>
      <p:sp>
        <p:nvSpPr>
          <p:cNvPr id="9" name="Text 7"/>
          <p:cNvSpPr/>
          <p:nvPr/>
        </p:nvSpPr>
        <p:spPr>
          <a:xfrm>
            <a:off x="914400" y="3054096"/>
            <a:ext cx="3200400" cy="310896"/>
          </a:xfrm>
          <a:prstGeom prst="rect">
            <a:avLst/>
          </a:prstGeom>
          <a:noFill/>
          <a:ln/>
        </p:spPr>
        <p:txBody>
          <a:bodyPr wrap="square" lIns="0" tIns="0" rIns="0" bIns="0" rtlCol="0" anchor="ctr"/>
          <a:lstStyle/>
          <a:p>
            <a:pPr indent="0" marL="0">
              <a:buNone/>
            </a:pPr>
            <a:r>
              <a:rPr lang="en-US" sz="1400" b="1" dirty="0">
                <a:solidFill>
                  <a:srgbClr val="E8EEF7"/>
                </a:solidFill>
                <a:latin typeface="Calibri" pitchFamily="34" charset="0"/>
                <a:ea typeface="Calibri" pitchFamily="34" charset="-122"/>
                <a:cs typeface="Calibri" pitchFamily="34" charset="-120"/>
              </a:rPr>
              <a:t>Read spoken stock reports</a:t>
            </a:r>
            <a:endParaRPr lang="en-US" sz="1400" dirty="0"/>
          </a:p>
        </p:txBody>
      </p:sp>
      <p:sp>
        <p:nvSpPr>
          <p:cNvPr id="10" name="Text 8"/>
          <p:cNvSpPr/>
          <p:nvPr/>
        </p:nvSpPr>
        <p:spPr>
          <a:xfrm>
            <a:off x="914400" y="3383280"/>
            <a:ext cx="3200400" cy="292608"/>
          </a:xfrm>
          <a:prstGeom prst="rect">
            <a:avLst/>
          </a:prstGeom>
          <a:noFill/>
          <a:ln/>
        </p:spPr>
        <p:txBody>
          <a:bodyPr wrap="square" lIns="0" tIns="0" rIns="0" bIns="0" rtlCol="0" anchor="ctr"/>
          <a:lstStyle/>
          <a:p>
            <a:pPr indent="0" marL="0">
              <a:buNone/>
            </a:pPr>
            <a:r>
              <a:rPr lang="en-US" sz="1100" dirty="0">
                <a:solidFill>
                  <a:srgbClr val="2DD4A7"/>
                </a:solidFill>
                <a:latin typeface="Calibri" pitchFamily="34" charset="0"/>
                <a:ea typeface="Calibri" pitchFamily="34" charset="-122"/>
                <a:cs typeface="Calibri" pitchFamily="34" charset="-120"/>
              </a:rPr>
              <a:t>same model, native audio</a:t>
            </a:r>
            <a:endParaRPr lang="en-US" sz="1100" dirty="0"/>
          </a:p>
        </p:txBody>
      </p:sp>
      <p:sp>
        <p:nvSpPr>
          <p:cNvPr id="11" name="Text 9"/>
          <p:cNvSpPr/>
          <p:nvPr/>
        </p:nvSpPr>
        <p:spPr>
          <a:xfrm>
            <a:off x="4389120" y="3127248"/>
            <a:ext cx="6858000" cy="548640"/>
          </a:xfrm>
          <a:prstGeom prst="rect">
            <a:avLst/>
          </a:prstGeom>
          <a:noFill/>
          <a:ln/>
        </p:spPr>
        <p:txBody>
          <a:bodyPr wrap="square" lIns="0" tIns="0" rIns="0" bIns="0" rtlCol="0" anchor="ctr"/>
          <a:lstStyle/>
          <a:p>
            <a:pPr indent="0" marL="0">
              <a:lnSpc>
                <a:spcPct val="120000"/>
              </a:lnSpc>
              <a:buNone/>
            </a:pPr>
            <a:r>
              <a:rPr lang="en-US" sz="1250" dirty="0">
                <a:solidFill>
                  <a:srgbClr val="94A3B8"/>
                </a:solidFill>
                <a:latin typeface="Calibri" pitchFamily="34" charset="0"/>
                <a:ea typeface="Calibri" pitchFamily="34" charset="-122"/>
                <a:cs typeface="Calibri" pitchFamily="34" charset="-120"/>
              </a:rPr>
              <a:t>Transcription, translation and structuring in one call, in the worker’s own language.</a:t>
            </a:r>
            <a:endParaRPr lang="en-US" sz="1250" dirty="0"/>
          </a:p>
        </p:txBody>
      </p:sp>
      <p:sp>
        <p:nvSpPr>
          <p:cNvPr id="12" name="Shape 10"/>
          <p:cNvSpPr/>
          <p:nvPr/>
        </p:nvSpPr>
        <p:spPr>
          <a:xfrm>
            <a:off x="640080" y="3977640"/>
            <a:ext cx="10908792" cy="914400"/>
          </a:xfrm>
          <a:prstGeom prst="roundRect">
            <a:avLst>
              <a:gd name="adj" fmla="val 6000"/>
            </a:avLst>
          </a:prstGeom>
          <a:solidFill>
            <a:srgbClr val="161D2E"/>
          </a:solidFill>
          <a:ln w="12700">
            <a:solidFill>
              <a:srgbClr val="2C3850"/>
            </a:solidFill>
            <a:prstDash val="solid"/>
          </a:ln>
        </p:spPr>
      </p:sp>
      <p:sp>
        <p:nvSpPr>
          <p:cNvPr id="13" name="Text 11"/>
          <p:cNvSpPr/>
          <p:nvPr/>
        </p:nvSpPr>
        <p:spPr>
          <a:xfrm>
            <a:off x="914400" y="4105656"/>
            <a:ext cx="3200400" cy="310896"/>
          </a:xfrm>
          <a:prstGeom prst="rect">
            <a:avLst/>
          </a:prstGeom>
          <a:noFill/>
          <a:ln/>
        </p:spPr>
        <p:txBody>
          <a:bodyPr wrap="square" lIns="0" tIns="0" rIns="0" bIns="0" rtlCol="0" anchor="ctr"/>
          <a:lstStyle/>
          <a:p>
            <a:pPr indent="0" marL="0">
              <a:buNone/>
            </a:pPr>
            <a:r>
              <a:rPr lang="en-US" sz="1400" b="1" dirty="0">
                <a:solidFill>
                  <a:srgbClr val="E8EEF7"/>
                </a:solidFill>
                <a:latin typeface="Calibri" pitchFamily="34" charset="0"/>
                <a:ea typeface="Calibri" pitchFamily="34" charset="-122"/>
                <a:cs typeface="Calibri" pitchFamily="34" charset="-120"/>
              </a:rPr>
              <a:t>Write the officer’s justification</a:t>
            </a:r>
            <a:endParaRPr lang="en-US" sz="1400" dirty="0"/>
          </a:p>
        </p:txBody>
      </p:sp>
      <p:sp>
        <p:nvSpPr>
          <p:cNvPr id="14" name="Text 12"/>
          <p:cNvSpPr/>
          <p:nvPr/>
        </p:nvSpPr>
        <p:spPr>
          <a:xfrm>
            <a:off x="914400" y="4434840"/>
            <a:ext cx="3200400" cy="292608"/>
          </a:xfrm>
          <a:prstGeom prst="rect">
            <a:avLst/>
          </a:prstGeom>
          <a:noFill/>
          <a:ln/>
        </p:spPr>
        <p:txBody>
          <a:bodyPr wrap="square" lIns="0" tIns="0" rIns="0" bIns="0" rtlCol="0" anchor="ctr"/>
          <a:lstStyle/>
          <a:p>
            <a:pPr indent="0" marL="0">
              <a:buNone/>
            </a:pPr>
            <a:r>
              <a:rPr lang="en-US" sz="1100" dirty="0">
                <a:solidFill>
                  <a:srgbClr val="2DD4A7"/>
                </a:solidFill>
                <a:latin typeface="Calibri" pitchFamily="34" charset="0"/>
                <a:ea typeface="Calibri" pitchFamily="34" charset="-122"/>
                <a:cs typeface="Calibri" pitchFamily="34" charset="-120"/>
              </a:rPr>
              <a:t>gemini-3.5-flash</a:t>
            </a:r>
            <a:endParaRPr lang="en-US" sz="1100" dirty="0"/>
          </a:p>
        </p:txBody>
      </p:sp>
      <p:sp>
        <p:nvSpPr>
          <p:cNvPr id="15" name="Text 13"/>
          <p:cNvSpPr/>
          <p:nvPr/>
        </p:nvSpPr>
        <p:spPr>
          <a:xfrm>
            <a:off x="4389120" y="4178808"/>
            <a:ext cx="6858000" cy="548640"/>
          </a:xfrm>
          <a:prstGeom prst="rect">
            <a:avLst/>
          </a:prstGeom>
          <a:noFill/>
          <a:ln/>
        </p:spPr>
        <p:txBody>
          <a:bodyPr wrap="square" lIns="0" tIns="0" rIns="0" bIns="0" rtlCol="0" anchor="ctr"/>
          <a:lstStyle/>
          <a:p>
            <a:pPr indent="0" marL="0">
              <a:lnSpc>
                <a:spcPct val="120000"/>
              </a:lnSpc>
              <a:buNone/>
            </a:pPr>
            <a:r>
              <a:rPr lang="en-US" sz="1250" dirty="0">
                <a:solidFill>
                  <a:srgbClr val="94A3B8"/>
                </a:solidFill>
                <a:latin typeface="Calibri" pitchFamily="34" charset="0"/>
                <a:ea typeface="Calibri" pitchFamily="34" charset="-122"/>
                <a:cs typeface="Calibri" pitchFamily="34" charset="-120"/>
              </a:rPr>
              <a:t>Makes computed reasoning legible so a human will actually sign it.</a:t>
            </a:r>
            <a:endParaRPr lang="en-US" sz="1250" dirty="0"/>
          </a:p>
        </p:txBody>
      </p:sp>
      <p:sp>
        <p:nvSpPr>
          <p:cNvPr id="16" name="Text 14"/>
          <p:cNvSpPr/>
          <p:nvPr/>
        </p:nvSpPr>
        <p:spPr>
          <a:xfrm>
            <a:off x="640080" y="5120640"/>
            <a:ext cx="10908792" cy="640080"/>
          </a:xfrm>
          <a:prstGeom prst="rect">
            <a:avLst/>
          </a:prstGeom>
          <a:noFill/>
          <a:ln/>
        </p:spPr>
        <p:txBody>
          <a:bodyPr wrap="square" lIns="0" tIns="0" rIns="0" bIns="0" rtlCol="0" anchor="ctr"/>
          <a:lstStyle/>
          <a:p>
            <a:pPr indent="0" marL="0">
              <a:lnSpc>
                <a:spcPct val="130000"/>
              </a:lnSpc>
              <a:buNone/>
            </a:pPr>
            <a:r>
              <a:rPr lang="en-US" sz="1300" dirty="0">
                <a:solidFill>
                  <a:srgbClr val="E8EEF7"/>
                </a:solidFill>
                <a:latin typeface="Calibri" pitchFamily="34" charset="0"/>
                <a:ea typeface="Calibri" pitchFamily="34" charset="-122"/>
                <a:cs typeface="Calibri" pitchFamily="34" charset="-120"/>
              </a:rPr>
              <a:t>Model choice is benchmarked, not assumed. Reading a register is transcription, so flash-lite with thinking disabled does it in under 5 seconds where the larger model took 26 to 35 seconds for a character-identical answer.</a:t>
            </a:r>
            <a:endParaRPr lang="en-US" sz="1300" dirty="0"/>
          </a:p>
        </p:txBody>
      </p:sp>
      <p:pic>
        <p:nvPicPr>
          <p:cNvPr id="17"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18" name="Text 15"/>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19" name="Text 16"/>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99 FACILITIES · 9 DISTRICTS · 3 COUNTRIES</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What the mesh found.</a:t>
            </a:r>
            <a:endParaRPr lang="en-US" sz="3400" dirty="0"/>
          </a:p>
        </p:txBody>
      </p:sp>
      <p:sp>
        <p:nvSpPr>
          <p:cNvPr id="4" name="Shape 2"/>
          <p:cNvSpPr/>
          <p:nvPr/>
        </p:nvSpPr>
        <p:spPr>
          <a:xfrm>
            <a:off x="640080" y="1874520"/>
            <a:ext cx="2606040" cy="1600200"/>
          </a:xfrm>
          <a:prstGeom prst="roundRect">
            <a:avLst>
              <a:gd name="adj" fmla="val 4571"/>
            </a:avLst>
          </a:prstGeom>
          <a:solidFill>
            <a:srgbClr val="161D2E"/>
          </a:solidFill>
          <a:ln w="12700">
            <a:solidFill>
              <a:srgbClr val="2C3850"/>
            </a:solidFill>
            <a:prstDash val="solid"/>
          </a:ln>
        </p:spPr>
      </p:sp>
      <p:sp>
        <p:nvSpPr>
          <p:cNvPr id="5" name="Text 3"/>
          <p:cNvSpPr/>
          <p:nvPr/>
        </p:nvSpPr>
        <p:spPr>
          <a:xfrm>
            <a:off x="868680" y="2039112"/>
            <a:ext cx="2148840" cy="548640"/>
          </a:xfrm>
          <a:prstGeom prst="rect">
            <a:avLst/>
          </a:prstGeom>
          <a:noFill/>
          <a:ln/>
        </p:spPr>
        <p:txBody>
          <a:bodyPr wrap="square" lIns="0" tIns="0" rIns="0" bIns="0" rtlCol="0" anchor="ctr"/>
          <a:lstStyle/>
          <a:p>
            <a:pPr indent="0" marL="0">
              <a:buNone/>
            </a:pPr>
            <a:r>
              <a:rPr lang="en-US" sz="3000" b="1" dirty="0">
                <a:solidFill>
                  <a:srgbClr val="2DD4A7"/>
                </a:solidFill>
                <a:latin typeface="Calibri" pitchFamily="34" charset="0"/>
                <a:ea typeface="Calibri" pitchFamily="34" charset="-122"/>
                <a:cs typeface="Calibri" pitchFamily="34" charset="-120"/>
              </a:rPr>
              <a:t>13,552</a:t>
            </a:r>
            <a:endParaRPr lang="en-US" sz="3000" dirty="0"/>
          </a:p>
        </p:txBody>
      </p:sp>
      <p:sp>
        <p:nvSpPr>
          <p:cNvPr id="6" name="Text 4"/>
          <p:cNvSpPr/>
          <p:nvPr/>
        </p:nvSpPr>
        <p:spPr>
          <a:xfrm>
            <a:off x="868680" y="2587752"/>
            <a:ext cx="214884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Stock-out days averted</a:t>
            </a:r>
            <a:endParaRPr lang="en-US" sz="1200" dirty="0"/>
          </a:p>
        </p:txBody>
      </p:sp>
      <p:sp>
        <p:nvSpPr>
          <p:cNvPr id="7" name="Text 5"/>
          <p:cNvSpPr/>
          <p:nvPr/>
        </p:nvSpPr>
        <p:spPr>
          <a:xfrm>
            <a:off x="868680" y="3035808"/>
            <a:ext cx="214884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Days a patient is not turned away</a:t>
            </a:r>
            <a:endParaRPr lang="en-US" sz="1000" dirty="0"/>
          </a:p>
        </p:txBody>
      </p:sp>
      <p:sp>
        <p:nvSpPr>
          <p:cNvPr id="8" name="Shape 6"/>
          <p:cNvSpPr/>
          <p:nvPr/>
        </p:nvSpPr>
        <p:spPr>
          <a:xfrm>
            <a:off x="3410712" y="1874520"/>
            <a:ext cx="2606040" cy="1600200"/>
          </a:xfrm>
          <a:prstGeom prst="roundRect">
            <a:avLst>
              <a:gd name="adj" fmla="val 4571"/>
            </a:avLst>
          </a:prstGeom>
          <a:solidFill>
            <a:srgbClr val="161D2E"/>
          </a:solidFill>
          <a:ln w="12700">
            <a:solidFill>
              <a:srgbClr val="2C3850"/>
            </a:solidFill>
            <a:prstDash val="solid"/>
          </a:ln>
        </p:spPr>
      </p:sp>
      <p:sp>
        <p:nvSpPr>
          <p:cNvPr id="9" name="Text 7"/>
          <p:cNvSpPr/>
          <p:nvPr/>
        </p:nvSpPr>
        <p:spPr>
          <a:xfrm>
            <a:off x="3639312" y="2039112"/>
            <a:ext cx="2148840" cy="548640"/>
          </a:xfrm>
          <a:prstGeom prst="rect">
            <a:avLst/>
          </a:prstGeom>
          <a:noFill/>
          <a:ln/>
        </p:spPr>
        <p:txBody>
          <a:bodyPr wrap="square" lIns="0" tIns="0" rIns="0" bIns="0" rtlCol="0" anchor="ctr"/>
          <a:lstStyle/>
          <a:p>
            <a:pPr indent="0" marL="0">
              <a:buNone/>
            </a:pPr>
            <a:r>
              <a:rPr lang="en-US" sz="3000" b="1" dirty="0">
                <a:solidFill>
                  <a:srgbClr val="2DD4A7"/>
                </a:solidFill>
                <a:latin typeface="Calibri" pitchFamily="34" charset="0"/>
                <a:ea typeface="Calibri" pitchFamily="34" charset="-122"/>
                <a:cs typeface="Calibri" pitchFamily="34" charset="-120"/>
              </a:rPr>
              <a:t>614</a:t>
            </a:r>
            <a:endParaRPr lang="en-US" sz="3000" dirty="0"/>
          </a:p>
        </p:txBody>
      </p:sp>
      <p:sp>
        <p:nvSpPr>
          <p:cNvPr id="10" name="Text 8"/>
          <p:cNvSpPr/>
          <p:nvPr/>
        </p:nvSpPr>
        <p:spPr>
          <a:xfrm>
            <a:off x="3639312" y="2587752"/>
            <a:ext cx="214884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Transfers proposed</a:t>
            </a:r>
            <a:endParaRPr lang="en-US" sz="1200" dirty="0"/>
          </a:p>
        </p:txBody>
      </p:sp>
      <p:sp>
        <p:nvSpPr>
          <p:cNvPr id="11" name="Text 9"/>
          <p:cNvSpPr/>
          <p:nvPr/>
        </p:nvSpPr>
        <p:spPr>
          <a:xfrm>
            <a:off x="3639312" y="3035808"/>
            <a:ext cx="214884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274 cross a district boundary</a:t>
            </a:r>
            <a:endParaRPr lang="en-US" sz="1000" dirty="0"/>
          </a:p>
        </p:txBody>
      </p:sp>
      <p:sp>
        <p:nvSpPr>
          <p:cNvPr id="12" name="Shape 10"/>
          <p:cNvSpPr/>
          <p:nvPr/>
        </p:nvSpPr>
        <p:spPr>
          <a:xfrm>
            <a:off x="6181344" y="1874520"/>
            <a:ext cx="2606040" cy="1600200"/>
          </a:xfrm>
          <a:prstGeom prst="roundRect">
            <a:avLst>
              <a:gd name="adj" fmla="val 4571"/>
            </a:avLst>
          </a:prstGeom>
          <a:solidFill>
            <a:srgbClr val="161D2E"/>
          </a:solidFill>
          <a:ln w="12700">
            <a:solidFill>
              <a:srgbClr val="2C3850"/>
            </a:solidFill>
            <a:prstDash val="solid"/>
          </a:ln>
        </p:spPr>
      </p:sp>
      <p:sp>
        <p:nvSpPr>
          <p:cNvPr id="13" name="Text 11"/>
          <p:cNvSpPr/>
          <p:nvPr/>
        </p:nvSpPr>
        <p:spPr>
          <a:xfrm>
            <a:off x="6409944" y="2039112"/>
            <a:ext cx="2148840" cy="548640"/>
          </a:xfrm>
          <a:prstGeom prst="rect">
            <a:avLst/>
          </a:prstGeom>
          <a:noFill/>
          <a:ln/>
        </p:spPr>
        <p:txBody>
          <a:bodyPr wrap="square" lIns="0" tIns="0" rIns="0" bIns="0" rtlCol="0" anchor="ctr"/>
          <a:lstStyle/>
          <a:p>
            <a:pPr indent="0" marL="0">
              <a:buNone/>
            </a:pPr>
            <a:r>
              <a:rPr lang="en-US" sz="3000" b="1" dirty="0">
                <a:solidFill>
                  <a:srgbClr val="E8EEF7"/>
                </a:solidFill>
                <a:latin typeface="Calibri" pitchFamily="34" charset="0"/>
                <a:ea typeface="Calibri" pitchFamily="34" charset="-122"/>
                <a:cs typeface="Calibri" pitchFamily="34" charset="-120"/>
              </a:rPr>
              <a:t>90 / 99</a:t>
            </a:r>
            <a:endParaRPr lang="en-US" sz="3000" dirty="0"/>
          </a:p>
        </p:txBody>
      </p:sp>
      <p:sp>
        <p:nvSpPr>
          <p:cNvPr id="14" name="Text 12"/>
          <p:cNvSpPr/>
          <p:nvPr/>
        </p:nvSpPr>
        <p:spPr>
          <a:xfrm>
            <a:off x="6409944" y="2587752"/>
            <a:ext cx="214884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Facilities helped</a:t>
            </a:r>
            <a:endParaRPr lang="en-US" sz="1200" dirty="0"/>
          </a:p>
        </p:txBody>
      </p:sp>
      <p:sp>
        <p:nvSpPr>
          <p:cNvPr id="15" name="Text 13"/>
          <p:cNvSpPr/>
          <p:nvPr/>
        </p:nvSpPr>
        <p:spPr>
          <a:xfrm>
            <a:off x="6409944" y="3035808"/>
            <a:ext cx="214884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Received a viable transfer</a:t>
            </a:r>
            <a:endParaRPr lang="en-US" sz="1000" dirty="0"/>
          </a:p>
        </p:txBody>
      </p:sp>
      <p:sp>
        <p:nvSpPr>
          <p:cNvPr id="16" name="Shape 14"/>
          <p:cNvSpPr/>
          <p:nvPr/>
        </p:nvSpPr>
        <p:spPr>
          <a:xfrm>
            <a:off x="8951976" y="1874520"/>
            <a:ext cx="2606040" cy="1600200"/>
          </a:xfrm>
          <a:prstGeom prst="roundRect">
            <a:avLst>
              <a:gd name="adj" fmla="val 4571"/>
            </a:avLst>
          </a:prstGeom>
          <a:solidFill>
            <a:srgbClr val="161D2E"/>
          </a:solidFill>
          <a:ln w="12700">
            <a:solidFill>
              <a:srgbClr val="2C3850"/>
            </a:solidFill>
            <a:prstDash val="solid"/>
          </a:ln>
        </p:spPr>
      </p:sp>
      <p:sp>
        <p:nvSpPr>
          <p:cNvPr id="17" name="Text 15"/>
          <p:cNvSpPr/>
          <p:nvPr/>
        </p:nvSpPr>
        <p:spPr>
          <a:xfrm>
            <a:off x="9180576" y="2039112"/>
            <a:ext cx="2148840" cy="548640"/>
          </a:xfrm>
          <a:prstGeom prst="rect">
            <a:avLst/>
          </a:prstGeom>
          <a:noFill/>
          <a:ln/>
        </p:spPr>
        <p:txBody>
          <a:bodyPr wrap="square" lIns="0" tIns="0" rIns="0" bIns="0" rtlCol="0" anchor="ctr"/>
          <a:lstStyle/>
          <a:p>
            <a:pPr indent="0" marL="0">
              <a:buNone/>
            </a:pPr>
            <a:r>
              <a:rPr lang="en-US" sz="3000" b="1" dirty="0">
                <a:solidFill>
                  <a:srgbClr val="F5A524"/>
                </a:solidFill>
                <a:latin typeface="Calibri" pitchFamily="34" charset="0"/>
                <a:ea typeface="Calibri" pitchFamily="34" charset="-122"/>
                <a:cs typeface="Calibri" pitchFamily="34" charset="-120"/>
              </a:rPr>
              <a:t>96,935</a:t>
            </a:r>
            <a:endParaRPr lang="en-US" sz="3000" dirty="0"/>
          </a:p>
        </p:txBody>
      </p:sp>
      <p:sp>
        <p:nvSpPr>
          <p:cNvPr id="18" name="Text 16"/>
          <p:cNvSpPr/>
          <p:nvPr/>
        </p:nvSpPr>
        <p:spPr>
          <a:xfrm>
            <a:off x="9180576" y="2587752"/>
            <a:ext cx="2148840" cy="402336"/>
          </a:xfrm>
          <a:prstGeom prst="rect">
            <a:avLst/>
          </a:prstGeom>
          <a:noFill/>
          <a:ln/>
        </p:spPr>
        <p:txBody>
          <a:bodyPr wrap="square" lIns="0" tIns="0" rIns="0" bIns="0" rtlCol="0" anchor="t"/>
          <a:lstStyle/>
          <a:p>
            <a:pPr indent="0" marL="0">
              <a:buNone/>
            </a:pPr>
            <a:r>
              <a:rPr lang="en-US" sz="1200" dirty="0">
                <a:solidFill>
                  <a:srgbClr val="E8EEF7"/>
                </a:solidFill>
                <a:latin typeface="Calibri" pitchFamily="34" charset="0"/>
                <a:ea typeface="Calibri" pitchFamily="34" charset="-122"/>
                <a:cs typeface="Calibri" pitchFamily="34" charset="-120"/>
              </a:rPr>
              <a:t>Units of waste averted</a:t>
            </a:r>
            <a:endParaRPr lang="en-US" sz="1200" dirty="0"/>
          </a:p>
        </p:txBody>
      </p:sp>
      <p:sp>
        <p:nvSpPr>
          <p:cNvPr id="19" name="Text 17"/>
          <p:cNvSpPr/>
          <p:nvPr/>
        </p:nvSpPr>
        <p:spPr>
          <a:xfrm>
            <a:off x="9180576" y="3035808"/>
            <a:ext cx="2148840" cy="34747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Only genuinely doomed stock</a:t>
            </a:r>
            <a:endParaRPr lang="en-US" sz="1000" dirty="0"/>
          </a:p>
        </p:txBody>
      </p:sp>
      <p:sp>
        <p:nvSpPr>
          <p:cNvPr id="20" name="Shape 18"/>
          <p:cNvSpPr/>
          <p:nvPr/>
        </p:nvSpPr>
        <p:spPr>
          <a:xfrm>
            <a:off x="640080" y="3749040"/>
            <a:ext cx="10908792" cy="1481328"/>
          </a:xfrm>
          <a:prstGeom prst="roundRect">
            <a:avLst>
              <a:gd name="adj" fmla="val 4938"/>
            </a:avLst>
          </a:prstGeom>
          <a:solidFill>
            <a:srgbClr val="161D2E"/>
          </a:solidFill>
          <a:ln w="12700">
            <a:solidFill>
              <a:srgbClr val="2DD4A7"/>
            </a:solidFill>
            <a:prstDash val="solid"/>
          </a:ln>
        </p:spPr>
      </p:sp>
      <p:sp>
        <p:nvSpPr>
          <p:cNvPr id="21" name="Text 19"/>
          <p:cNvSpPr/>
          <p:nvPr/>
        </p:nvSpPr>
        <p:spPr>
          <a:xfrm>
            <a:off x="960120" y="3913632"/>
            <a:ext cx="10241280" cy="274320"/>
          </a:xfrm>
          <a:prstGeom prst="rect">
            <a:avLst/>
          </a:prstGeom>
          <a:noFill/>
          <a:ln/>
        </p:spPr>
        <p:txBody>
          <a:bodyPr wrap="square" lIns="0" tIns="0" rIns="0" bIns="0" rtlCol="0" anchor="ctr"/>
          <a:lstStyle/>
          <a:p>
            <a:pPr indent="0" marL="0">
              <a:buNone/>
            </a:pPr>
            <a:r>
              <a:rPr lang="en-US" sz="1100" b="1" spc="100" kern="0" dirty="0">
                <a:solidFill>
                  <a:srgbClr val="2DD4A7"/>
                </a:solidFill>
                <a:latin typeface="Calibri" pitchFamily="34" charset="0"/>
                <a:ea typeface="Calibri" pitchFamily="34" charset="-122"/>
                <a:cs typeface="Calibri" pitchFamily="34" charset="-120"/>
              </a:rPr>
              <a:t>A real proposal, unedited from the run</a:t>
            </a:r>
            <a:endParaRPr lang="en-US" sz="1100" dirty="0"/>
          </a:p>
        </p:txBody>
      </p:sp>
      <p:sp>
        <p:nvSpPr>
          <p:cNvPr id="22" name="Text 20"/>
          <p:cNvSpPr/>
          <p:nvPr/>
        </p:nvSpPr>
        <p:spPr>
          <a:xfrm>
            <a:off x="960120" y="4206240"/>
            <a:ext cx="10241280" cy="603504"/>
          </a:xfrm>
          <a:prstGeom prst="rect">
            <a:avLst/>
          </a:prstGeom>
          <a:noFill/>
          <a:ln/>
        </p:spPr>
        <p:txBody>
          <a:bodyPr wrap="square" lIns="0" tIns="0" rIns="0" bIns="0" rtlCol="0" anchor="t"/>
          <a:lstStyle/>
          <a:p>
            <a:pPr indent="0" marL="0">
              <a:buNone/>
            </a:pPr>
            <a:r>
              <a:rPr lang="en-US" sz="1500" b="1" dirty="0">
                <a:solidFill>
                  <a:srgbClr val="E8EEF7"/>
                </a:solidFill>
                <a:latin typeface="Calibri" pitchFamily="34" charset="0"/>
                <a:ea typeface="Calibri" pitchFamily="34" charset="-122"/>
                <a:cs typeface="Calibri" pitchFamily="34" charset="-120"/>
              </a:rPr>
              <a:t>418 vials of human insulin.  CHC Manguzi to CHC Mtubatuba, uMkhanyakude, 11.1 km. Batch expires 26 October. Averts 47 stock-out days.</a:t>
            </a:r>
            <a:endParaRPr lang="en-US" sz="1500" dirty="0"/>
          </a:p>
        </p:txBody>
      </p:sp>
      <p:sp>
        <p:nvSpPr>
          <p:cNvPr id="23" name="Text 21"/>
          <p:cNvSpPr/>
          <p:nvPr/>
        </p:nvSpPr>
        <p:spPr>
          <a:xfrm>
            <a:off x="960120" y="4828032"/>
            <a:ext cx="10241280" cy="32004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Two clinics eleven kilometres apart. One about to bin insulin, one about to run out of it. Neither can see the other today.</a:t>
            </a:r>
            <a:endParaRPr lang="en-US" sz="1250" dirty="0"/>
          </a:p>
        </p:txBody>
      </p:sp>
      <p:sp>
        <p:nvSpPr>
          <p:cNvPr id="24" name="Text 22"/>
          <p:cNvSpPr/>
          <p:nvPr/>
        </p:nvSpPr>
        <p:spPr>
          <a:xfrm>
            <a:off x="640080" y="5376672"/>
            <a:ext cx="10908792" cy="566928"/>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End to end, live: photographing one register page moves 13 medicines between states and creates 11 transfers that did not exist seconds earlier. Waste averted counts only units that would genuinely have expired, keeping the number smaller and defensible.</a:t>
            </a:r>
            <a:endParaRPr lang="en-US" sz="1150" dirty="0"/>
          </a:p>
        </p:txBody>
      </p:sp>
      <p:pic>
        <p:nvPicPr>
          <p:cNvPr id="25"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26" name="Text 23"/>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27" name="Text 24"/>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COOPERATION AS ARITHMETIC</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Malaria season in India is the off-season in Brazil.</a:t>
            </a:r>
            <a:endParaRPr lang="en-US" sz="3400" dirty="0"/>
          </a:p>
        </p:txBody>
      </p:sp>
      <p:sp>
        <p:nvSpPr>
          <p:cNvPr id="4" name="Text 2"/>
          <p:cNvSpPr/>
          <p:nvPr/>
        </p:nvSpPr>
        <p:spPr>
          <a:xfrm>
            <a:off x="640080" y="1783080"/>
            <a:ext cx="10908792" cy="777240"/>
          </a:xfrm>
          <a:prstGeom prst="rect">
            <a:avLst/>
          </a:prstGeom>
          <a:noFill/>
          <a:ln/>
        </p:spPr>
        <p:txBody>
          <a:bodyPr wrap="square" lIns="0" tIns="0" rIns="0" bIns="0" rtlCol="0" anchor="ctr"/>
          <a:lstStyle/>
          <a:p>
            <a:pPr indent="0" marL="0">
              <a:lnSpc>
                <a:spcPct val="130000"/>
              </a:lnSpc>
              <a:buNone/>
            </a:pPr>
            <a:r>
              <a:rPr lang="en-US" sz="1400" dirty="0">
                <a:solidFill>
                  <a:srgbClr val="E8EEF7"/>
                </a:solidFill>
                <a:latin typeface="Calibri" pitchFamily="34" charset="0"/>
                <a:ea typeface="Calibri" pitchFamily="34" charset="-122"/>
                <a:cs typeface="Calibri" pitchFamily="34" charset="-120"/>
              </a:rPr>
              <a:t>Medicines are keyed to WHO ATC codes rather than national product codes, so an Indian PHC, a Brazilian UBS and a South African clinic describe the same molecule identically. One country’s surplus can be matched against another’s shortfall.</a:t>
            </a:r>
            <a:endParaRPr lang="en-US" sz="1400" dirty="0"/>
          </a:p>
        </p:txBody>
      </p:sp>
      <p:sp>
        <p:nvSpPr>
          <p:cNvPr id="5" name="Shape 3"/>
          <p:cNvSpPr/>
          <p:nvPr/>
        </p:nvSpPr>
        <p:spPr>
          <a:xfrm>
            <a:off x="640080" y="2697480"/>
            <a:ext cx="10908792" cy="1371600"/>
          </a:xfrm>
          <a:prstGeom prst="roundRect">
            <a:avLst>
              <a:gd name="adj" fmla="val 5333"/>
            </a:avLst>
          </a:prstGeom>
          <a:solidFill>
            <a:srgbClr val="161D2E"/>
          </a:solidFill>
          <a:ln w="12700">
            <a:solidFill>
              <a:srgbClr val="2DD4A7"/>
            </a:solidFill>
            <a:prstDash val="solid"/>
          </a:ln>
        </p:spPr>
      </p:sp>
      <p:sp>
        <p:nvSpPr>
          <p:cNvPr id="6" name="Text 4"/>
          <p:cNvSpPr/>
          <p:nvPr/>
        </p:nvSpPr>
        <p:spPr>
          <a:xfrm>
            <a:off x="960120" y="2926080"/>
            <a:ext cx="3840480" cy="411480"/>
          </a:xfrm>
          <a:prstGeom prst="rect">
            <a:avLst/>
          </a:prstGeom>
          <a:noFill/>
          <a:ln/>
        </p:spPr>
        <p:txBody>
          <a:bodyPr wrap="square" lIns="0" tIns="0" rIns="0" bIns="0" rtlCol="0" anchor="ctr"/>
          <a:lstStyle/>
          <a:p>
            <a:pPr indent="0" marL="0">
              <a:buNone/>
            </a:pPr>
            <a:r>
              <a:rPr lang="en-US" sz="2000" b="1" dirty="0">
                <a:solidFill>
                  <a:srgbClr val="E8EEF7"/>
                </a:solidFill>
                <a:latin typeface="Calibri" pitchFamily="34" charset="0"/>
                <a:ea typeface="Calibri" pitchFamily="34" charset="-122"/>
                <a:cs typeface="Calibri" pitchFamily="34" charset="-120"/>
              </a:rPr>
              <a:t>South Africa  →  India</a:t>
            </a:r>
            <a:endParaRPr lang="en-US" sz="2000" dirty="0"/>
          </a:p>
        </p:txBody>
      </p:sp>
      <p:sp>
        <p:nvSpPr>
          <p:cNvPr id="7" name="Text 5"/>
          <p:cNvSpPr/>
          <p:nvPr/>
        </p:nvSpPr>
        <p:spPr>
          <a:xfrm>
            <a:off x="960120" y="3364992"/>
            <a:ext cx="3840480" cy="411480"/>
          </a:xfrm>
          <a:prstGeom prst="rect">
            <a:avLst/>
          </a:prstGeom>
          <a:noFill/>
          <a:ln/>
        </p:spPr>
        <p:txBody>
          <a:bodyPr wrap="square" lIns="0" tIns="0" rIns="0" bIns="0" rtlCol="0" anchor="ctr"/>
          <a:lstStyle/>
          <a:p>
            <a:pPr indent="0" marL="0">
              <a:buNone/>
            </a:pPr>
            <a:r>
              <a:rPr lang="en-US" sz="2200" b="1" dirty="0">
                <a:solidFill>
                  <a:srgbClr val="2DD4A7"/>
                </a:solidFill>
                <a:latin typeface="Calibri" pitchFamily="34" charset="0"/>
                <a:ea typeface="Calibri" pitchFamily="34" charset="-122"/>
                <a:cs typeface="Calibri" pitchFamily="34" charset="-120"/>
              </a:rPr>
              <a:t>53,934 units</a:t>
            </a:r>
            <a:endParaRPr lang="en-US" sz="2200" dirty="0"/>
          </a:p>
        </p:txBody>
      </p:sp>
      <p:sp>
        <p:nvSpPr>
          <p:cNvPr id="8" name="Text 6"/>
          <p:cNvSpPr/>
          <p:nvPr/>
        </p:nvSpPr>
        <p:spPr>
          <a:xfrm>
            <a:off x="5212080" y="2971800"/>
            <a:ext cx="5943600" cy="868680"/>
          </a:xfrm>
          <a:prstGeom prst="rect">
            <a:avLst/>
          </a:prstGeom>
          <a:noFill/>
          <a:ln/>
        </p:spPr>
        <p:txBody>
          <a:bodyPr wrap="square" lIns="0" tIns="0" rIns="0" bIns="0" rtlCol="0" anchor="ctr"/>
          <a:lstStyle/>
          <a:p>
            <a:pPr indent="0" marL="0">
              <a:lnSpc>
                <a:spcPct val="130000"/>
              </a:lnSpc>
              <a:buNone/>
            </a:pPr>
            <a:r>
              <a:rPr lang="en-US" sz="1350" dirty="0">
                <a:solidFill>
                  <a:srgbClr val="94A3B8"/>
                </a:solidFill>
                <a:latin typeface="Calibri" pitchFamily="34" charset="0"/>
                <a:ea typeface="Calibri" pitchFamily="34" charset="-122"/>
                <a:cs typeface="Calibri" pitchFamily="34" charset="-120"/>
              </a:rPr>
              <a:t>Artemether-Lumefantrine. Their antimalarial surplus sits in India’s shortfall, because the malaria seasons are six months out of phase.</a:t>
            </a:r>
            <a:endParaRPr lang="en-US" sz="1350" dirty="0"/>
          </a:p>
        </p:txBody>
      </p:sp>
      <p:sp>
        <p:nvSpPr>
          <p:cNvPr id="9" name="Text 7"/>
          <p:cNvSpPr/>
          <p:nvPr/>
        </p:nvSpPr>
        <p:spPr>
          <a:xfrm>
            <a:off x="640080" y="4251960"/>
            <a:ext cx="10908792" cy="365760"/>
          </a:xfrm>
          <a:prstGeom prst="rect">
            <a:avLst/>
          </a:prstGeom>
          <a:noFill/>
          <a:ln/>
        </p:spPr>
        <p:txBody>
          <a:bodyPr wrap="square" lIns="0" tIns="0" rIns="0" bIns="0" rtlCol="0" anchor="ctr"/>
          <a:lstStyle/>
          <a:p>
            <a:pPr indent="0" marL="0">
              <a:buNone/>
            </a:pPr>
            <a:r>
              <a:rPr lang="en-US" sz="1600" b="1" dirty="0">
                <a:solidFill>
                  <a:srgbClr val="E8EEF7"/>
                </a:solidFill>
                <a:latin typeface="Calibri" pitchFamily="34" charset="0"/>
                <a:ea typeface="Calibri" pitchFamily="34" charset="-122"/>
                <a:cs typeface="Calibri" pitchFamily="34" charset="-120"/>
              </a:rPr>
              <a:t>Hemispheres are modelled explicitly, which turns a slogan into a calculation.</a:t>
            </a:r>
            <a:endParaRPr lang="en-US" sz="1600" dirty="0"/>
          </a:p>
        </p:txBody>
      </p:sp>
      <p:sp>
        <p:nvSpPr>
          <p:cNvPr id="10" name="Text 8"/>
          <p:cNvSpPr/>
          <p:nvPr/>
        </p:nvSpPr>
        <p:spPr>
          <a:xfrm>
            <a:off x="640080" y="4709160"/>
            <a:ext cx="10908792" cy="777240"/>
          </a:xfrm>
          <a:prstGeom prst="rect">
            <a:avLst/>
          </a:prstGeom>
          <a:noFill/>
          <a:ln/>
        </p:spPr>
        <p:txBody>
          <a:bodyPr wrap="square" lIns="0" tIns="0" rIns="0" bIns="0" rtlCol="0" anchor="ctr"/>
          <a:lstStyle/>
          <a:p>
            <a:pPr indent="0" marL="0">
              <a:lnSpc>
                <a:spcPct val="130000"/>
              </a:lnSpc>
              <a:buNone/>
            </a:pPr>
            <a:r>
              <a:rPr lang="en-US" sz="1300" dirty="0">
                <a:solidFill>
                  <a:srgbClr val="94A3B8"/>
                </a:solidFill>
                <a:latin typeface="Calibri" pitchFamily="34" charset="0"/>
                <a:ea typeface="Calibri" pitchFamily="34" charset="-122"/>
                <a:cs typeface="Calibri" pitchFamily="34" charset="-120"/>
              </a:rPr>
              <a:t>Computed at national level, not facility to facility. A truck between Bihar and Amazonas is a slide, not logistics. The same engine runs unchanged in any BRICS member, because the join key is a molecule, not a country.</a:t>
            </a:r>
            <a:endParaRPr lang="en-US" sz="1300" dirty="0"/>
          </a:p>
        </p:txBody>
      </p:sp>
      <p:pic>
        <p:nvPicPr>
          <p:cNvPr id="11"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12" name="Text 9"/>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13" name="Text 10"/>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DEPLOYABILITY</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000" b="1" dirty="0">
                <a:solidFill>
                  <a:srgbClr val="E8EEF7"/>
                </a:solidFill>
                <a:latin typeface="Calibri" pitchFamily="34" charset="0"/>
                <a:ea typeface="Calibri" pitchFamily="34" charset="-122"/>
                <a:cs typeface="Calibri" pitchFamily="34" charset="-120"/>
              </a:rPr>
              <a:t>Not a replacement. The module they are missing.</a:t>
            </a:r>
            <a:endParaRPr lang="en-US" sz="3000" dirty="0"/>
          </a:p>
        </p:txBody>
      </p:sp>
      <p:sp>
        <p:nvSpPr>
          <p:cNvPr id="4" name="Shape 2"/>
          <p:cNvSpPr/>
          <p:nvPr/>
        </p:nvSpPr>
        <p:spPr>
          <a:xfrm>
            <a:off x="640080" y="1965960"/>
            <a:ext cx="3429000" cy="1097280"/>
          </a:xfrm>
          <a:prstGeom prst="roundRect">
            <a:avLst>
              <a:gd name="adj" fmla="val 5000"/>
            </a:avLst>
          </a:prstGeom>
          <a:solidFill>
            <a:srgbClr val="161D2E"/>
          </a:solidFill>
          <a:ln w="12700">
            <a:solidFill>
              <a:srgbClr val="2C3850"/>
            </a:solidFill>
            <a:prstDash val="solid"/>
          </a:ln>
        </p:spPr>
      </p:sp>
      <p:sp>
        <p:nvSpPr>
          <p:cNvPr id="5" name="Text 3"/>
          <p:cNvSpPr/>
          <p:nvPr/>
        </p:nvSpPr>
        <p:spPr>
          <a:xfrm>
            <a:off x="896112" y="2148840"/>
            <a:ext cx="292608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India</a:t>
            </a:r>
            <a:endParaRPr lang="en-US" sz="1200" dirty="0"/>
          </a:p>
        </p:txBody>
      </p:sp>
      <p:sp>
        <p:nvSpPr>
          <p:cNvPr id="6" name="Text 4"/>
          <p:cNvSpPr/>
          <p:nvPr/>
        </p:nvSpPr>
        <p:spPr>
          <a:xfrm>
            <a:off x="896112" y="2450592"/>
            <a:ext cx="2926080" cy="365760"/>
          </a:xfrm>
          <a:prstGeom prst="rect">
            <a:avLst/>
          </a:prstGeom>
          <a:noFill/>
          <a:ln/>
        </p:spPr>
        <p:txBody>
          <a:bodyPr wrap="square" lIns="0" tIns="0" rIns="0" bIns="0" rtlCol="0" anchor="ctr"/>
          <a:lstStyle/>
          <a:p>
            <a:pPr indent="0" marL="0">
              <a:buNone/>
            </a:pPr>
            <a:r>
              <a:rPr lang="en-US" sz="1500" b="1" dirty="0">
                <a:solidFill>
                  <a:srgbClr val="E8EEF7"/>
                </a:solidFill>
                <a:latin typeface="Calibri" pitchFamily="34" charset="0"/>
                <a:ea typeface="Calibri" pitchFamily="34" charset="-122"/>
                <a:cs typeface="Calibri" pitchFamily="34" charset="-120"/>
              </a:rPr>
              <a:t>DVDMS / e-Aushadhi</a:t>
            </a:r>
            <a:endParaRPr lang="en-US" sz="1500" dirty="0"/>
          </a:p>
        </p:txBody>
      </p:sp>
      <p:sp>
        <p:nvSpPr>
          <p:cNvPr id="7" name="Shape 5"/>
          <p:cNvSpPr/>
          <p:nvPr/>
        </p:nvSpPr>
        <p:spPr>
          <a:xfrm>
            <a:off x="4379976" y="1965960"/>
            <a:ext cx="3429000" cy="1097280"/>
          </a:xfrm>
          <a:prstGeom prst="roundRect">
            <a:avLst>
              <a:gd name="adj" fmla="val 5000"/>
            </a:avLst>
          </a:prstGeom>
          <a:solidFill>
            <a:srgbClr val="161D2E"/>
          </a:solidFill>
          <a:ln w="12700">
            <a:solidFill>
              <a:srgbClr val="2C3850"/>
            </a:solidFill>
            <a:prstDash val="solid"/>
          </a:ln>
        </p:spPr>
      </p:sp>
      <p:sp>
        <p:nvSpPr>
          <p:cNvPr id="8" name="Text 6"/>
          <p:cNvSpPr/>
          <p:nvPr/>
        </p:nvSpPr>
        <p:spPr>
          <a:xfrm>
            <a:off x="4636008" y="2148840"/>
            <a:ext cx="292608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Brazil</a:t>
            </a:r>
            <a:endParaRPr lang="en-US" sz="1200" dirty="0"/>
          </a:p>
        </p:txBody>
      </p:sp>
      <p:sp>
        <p:nvSpPr>
          <p:cNvPr id="9" name="Text 7"/>
          <p:cNvSpPr/>
          <p:nvPr/>
        </p:nvSpPr>
        <p:spPr>
          <a:xfrm>
            <a:off x="4636008" y="2450592"/>
            <a:ext cx="2926080" cy="365760"/>
          </a:xfrm>
          <a:prstGeom prst="rect">
            <a:avLst/>
          </a:prstGeom>
          <a:noFill/>
          <a:ln/>
        </p:spPr>
        <p:txBody>
          <a:bodyPr wrap="square" lIns="0" tIns="0" rIns="0" bIns="0" rtlCol="0" anchor="ctr"/>
          <a:lstStyle/>
          <a:p>
            <a:pPr indent="0" marL="0">
              <a:buNone/>
            </a:pPr>
            <a:r>
              <a:rPr lang="en-US" sz="1500" b="1" dirty="0">
                <a:solidFill>
                  <a:srgbClr val="E8EEF7"/>
                </a:solidFill>
                <a:latin typeface="Calibri" pitchFamily="34" charset="0"/>
                <a:ea typeface="Calibri" pitchFamily="34" charset="-122"/>
                <a:cs typeface="Calibri" pitchFamily="34" charset="-120"/>
              </a:rPr>
              <a:t>Hórus</a:t>
            </a:r>
            <a:endParaRPr lang="en-US" sz="1500" dirty="0"/>
          </a:p>
        </p:txBody>
      </p:sp>
      <p:sp>
        <p:nvSpPr>
          <p:cNvPr id="10" name="Shape 8"/>
          <p:cNvSpPr/>
          <p:nvPr/>
        </p:nvSpPr>
        <p:spPr>
          <a:xfrm>
            <a:off x="8119872" y="1965960"/>
            <a:ext cx="3429000" cy="1097280"/>
          </a:xfrm>
          <a:prstGeom prst="roundRect">
            <a:avLst>
              <a:gd name="adj" fmla="val 5000"/>
            </a:avLst>
          </a:prstGeom>
          <a:solidFill>
            <a:srgbClr val="161D2E"/>
          </a:solidFill>
          <a:ln w="12700">
            <a:solidFill>
              <a:srgbClr val="2C3850"/>
            </a:solidFill>
            <a:prstDash val="solid"/>
          </a:ln>
        </p:spPr>
      </p:sp>
      <p:sp>
        <p:nvSpPr>
          <p:cNvPr id="11" name="Text 9"/>
          <p:cNvSpPr/>
          <p:nvPr/>
        </p:nvSpPr>
        <p:spPr>
          <a:xfrm>
            <a:off x="8375904" y="2148840"/>
            <a:ext cx="2926080" cy="292608"/>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South Africa</a:t>
            </a:r>
            <a:endParaRPr lang="en-US" sz="1200" dirty="0"/>
          </a:p>
        </p:txBody>
      </p:sp>
      <p:sp>
        <p:nvSpPr>
          <p:cNvPr id="12" name="Text 10"/>
          <p:cNvSpPr/>
          <p:nvPr/>
        </p:nvSpPr>
        <p:spPr>
          <a:xfrm>
            <a:off x="8375904" y="2450592"/>
            <a:ext cx="2926080" cy="365760"/>
          </a:xfrm>
          <a:prstGeom prst="rect">
            <a:avLst/>
          </a:prstGeom>
          <a:noFill/>
          <a:ln/>
        </p:spPr>
        <p:txBody>
          <a:bodyPr wrap="square" lIns="0" tIns="0" rIns="0" bIns="0" rtlCol="0" anchor="ctr"/>
          <a:lstStyle/>
          <a:p>
            <a:pPr indent="0" marL="0">
              <a:buNone/>
            </a:pPr>
            <a:r>
              <a:rPr lang="en-US" sz="1500" b="1" dirty="0">
                <a:solidFill>
                  <a:srgbClr val="E8EEF7"/>
                </a:solidFill>
                <a:latin typeface="Calibri" pitchFamily="34" charset="0"/>
                <a:ea typeface="Calibri" pitchFamily="34" charset="-122"/>
                <a:cs typeface="Calibri" pitchFamily="34" charset="-120"/>
              </a:rPr>
              <a:t>ePIMS / RxSolution</a:t>
            </a:r>
            <a:endParaRPr lang="en-US" sz="1500" dirty="0"/>
          </a:p>
        </p:txBody>
      </p:sp>
      <p:sp>
        <p:nvSpPr>
          <p:cNvPr id="13" name="Text 11"/>
          <p:cNvSpPr/>
          <p:nvPr/>
        </p:nvSpPr>
        <p:spPr>
          <a:xfrm>
            <a:off x="640080" y="3291840"/>
            <a:ext cx="10908792" cy="365760"/>
          </a:xfrm>
          <a:prstGeom prst="rect">
            <a:avLst/>
          </a:prstGeom>
          <a:noFill/>
          <a:ln/>
        </p:spPr>
        <p:txBody>
          <a:bodyPr wrap="square" lIns="0" tIns="0" rIns="0" bIns="0" rtlCol="0" anchor="ctr"/>
          <a:lstStyle/>
          <a:p>
            <a:pPr indent="0" marL="0">
              <a:buNone/>
            </a:pPr>
            <a:r>
              <a:rPr lang="en-US" sz="1700" b="1" dirty="0">
                <a:solidFill>
                  <a:srgbClr val="2DD4A7"/>
                </a:solidFill>
                <a:latin typeface="Calibri" pitchFamily="34" charset="0"/>
                <a:ea typeface="Calibri" pitchFamily="34" charset="-122"/>
                <a:cs typeface="Calibri" pitchFamily="34" charset="-120"/>
              </a:rPr>
              <a:t>All three keep running. MedMesh sits beside them and adds the sideways link.</a:t>
            </a:r>
            <a:endParaRPr lang="en-US" sz="1700" dirty="0"/>
          </a:p>
        </p:txBody>
      </p:sp>
      <p:sp>
        <p:nvSpPr>
          <p:cNvPr id="14" name="Shape 12"/>
          <p:cNvSpPr/>
          <p:nvPr/>
        </p:nvSpPr>
        <p:spPr>
          <a:xfrm>
            <a:off x="685800" y="3913632"/>
            <a:ext cx="109728" cy="109728"/>
          </a:xfrm>
          <a:prstGeom prst="ellipse">
            <a:avLst/>
          </a:prstGeom>
          <a:solidFill>
            <a:srgbClr val="2DD4A7"/>
          </a:solidFill>
          <a:ln/>
        </p:spPr>
      </p:sp>
      <p:sp>
        <p:nvSpPr>
          <p:cNvPr id="15" name="Text 13"/>
          <p:cNvSpPr/>
          <p:nvPr/>
        </p:nvSpPr>
        <p:spPr>
          <a:xfrm>
            <a:off x="1005840" y="3794760"/>
            <a:ext cx="10543032" cy="402336"/>
          </a:xfrm>
          <a:prstGeom prst="rect">
            <a:avLst/>
          </a:prstGeom>
          <a:noFill/>
          <a:ln/>
        </p:spPr>
        <p:txBody>
          <a:bodyPr wrap="square" lIns="0" tIns="0" rIns="0" bIns="0" rtlCol="0" anchor="ctr"/>
          <a:lstStyle/>
          <a:p>
            <a:pPr indent="0" marL="0">
              <a:buNone/>
            </a:pPr>
            <a:r>
              <a:rPr lang="en-US" sz="1350" dirty="0">
                <a:solidFill>
                  <a:srgbClr val="E8EEF7"/>
                </a:solidFill>
                <a:latin typeface="Calibri" pitchFamily="34" charset="0"/>
                <a:ea typeface="Calibri" pitchFamily="34" charset="-122"/>
                <a:cs typeface="Calibri" pitchFamily="34" charset="-120"/>
              </a:rPr>
              <a:t>No new hardware, no new workflow at the facility. A phone photo of the register they already keep.</a:t>
            </a:r>
            <a:endParaRPr lang="en-US" sz="1350" dirty="0"/>
          </a:p>
        </p:txBody>
      </p:sp>
      <p:sp>
        <p:nvSpPr>
          <p:cNvPr id="16" name="Shape 14"/>
          <p:cNvSpPr/>
          <p:nvPr/>
        </p:nvSpPr>
        <p:spPr>
          <a:xfrm>
            <a:off x="685800" y="4370832"/>
            <a:ext cx="109728" cy="109728"/>
          </a:xfrm>
          <a:prstGeom prst="ellipse">
            <a:avLst/>
          </a:prstGeom>
          <a:solidFill>
            <a:srgbClr val="2DD4A7"/>
          </a:solidFill>
          <a:ln/>
        </p:spPr>
      </p:sp>
      <p:sp>
        <p:nvSpPr>
          <p:cNvPr id="17" name="Text 15"/>
          <p:cNvSpPr/>
          <p:nvPr/>
        </p:nvSpPr>
        <p:spPr>
          <a:xfrm>
            <a:off x="1005840" y="4251960"/>
            <a:ext cx="10543032" cy="402336"/>
          </a:xfrm>
          <a:prstGeom prst="rect">
            <a:avLst/>
          </a:prstGeom>
          <a:noFill/>
          <a:ln/>
        </p:spPr>
        <p:txBody>
          <a:bodyPr wrap="square" lIns="0" tIns="0" rIns="0" bIns="0" rtlCol="0" anchor="ctr"/>
          <a:lstStyle/>
          <a:p>
            <a:pPr indent="0" marL="0">
              <a:buNone/>
            </a:pPr>
            <a:r>
              <a:rPr lang="en-US" sz="1350" dirty="0">
                <a:solidFill>
                  <a:srgbClr val="E8EEF7"/>
                </a:solidFill>
                <a:latin typeface="Calibri" pitchFamily="34" charset="0"/>
                <a:ea typeface="Calibri" pitchFamily="34" charset="-122"/>
                <a:cs typeface="Calibri" pitchFamily="34" charset="-120"/>
              </a:rPr>
              <a:t>Forecasting runs in-process, so a district office can run this on a laptop with no cloud bill.</a:t>
            </a:r>
            <a:endParaRPr lang="en-US" sz="1350" dirty="0"/>
          </a:p>
        </p:txBody>
      </p:sp>
      <p:sp>
        <p:nvSpPr>
          <p:cNvPr id="18" name="Shape 16"/>
          <p:cNvSpPr/>
          <p:nvPr/>
        </p:nvSpPr>
        <p:spPr>
          <a:xfrm>
            <a:off x="685800" y="4828032"/>
            <a:ext cx="109728" cy="109728"/>
          </a:xfrm>
          <a:prstGeom prst="ellipse">
            <a:avLst/>
          </a:prstGeom>
          <a:solidFill>
            <a:srgbClr val="2DD4A7"/>
          </a:solidFill>
          <a:ln/>
        </p:spPr>
      </p:sp>
      <p:sp>
        <p:nvSpPr>
          <p:cNvPr id="19" name="Text 17"/>
          <p:cNvSpPr/>
          <p:nvPr/>
        </p:nvSpPr>
        <p:spPr>
          <a:xfrm>
            <a:off x="1005840" y="4709160"/>
            <a:ext cx="10543032" cy="402336"/>
          </a:xfrm>
          <a:prstGeom prst="rect">
            <a:avLst/>
          </a:prstGeom>
          <a:noFill/>
          <a:ln/>
        </p:spPr>
        <p:txBody>
          <a:bodyPr wrap="square" lIns="0" tIns="0" rIns="0" bIns="0" rtlCol="0" anchor="ctr"/>
          <a:lstStyle/>
          <a:p>
            <a:pPr indent="0" marL="0">
              <a:buNone/>
            </a:pPr>
            <a:r>
              <a:rPr lang="en-US" sz="1350" dirty="0">
                <a:solidFill>
                  <a:srgbClr val="E8EEF7"/>
                </a:solidFill>
                <a:latin typeface="Calibri" pitchFamily="34" charset="0"/>
                <a:ea typeface="Calibri" pitchFamily="34" charset="-122"/>
                <a:cs typeface="Calibri" pitchFamily="34" charset="-120"/>
              </a:rPr>
              <a:t>One district is a pilot. The engine is country-agnostic, so the second district costs nothing new.</a:t>
            </a:r>
            <a:endParaRPr lang="en-US" sz="1350" dirty="0"/>
          </a:p>
        </p:txBody>
      </p:sp>
      <p:sp>
        <p:nvSpPr>
          <p:cNvPr id="20" name="Shape 18"/>
          <p:cNvSpPr/>
          <p:nvPr/>
        </p:nvSpPr>
        <p:spPr>
          <a:xfrm>
            <a:off x="685800" y="5285232"/>
            <a:ext cx="109728" cy="109728"/>
          </a:xfrm>
          <a:prstGeom prst="ellipse">
            <a:avLst/>
          </a:prstGeom>
          <a:solidFill>
            <a:srgbClr val="2DD4A7"/>
          </a:solidFill>
          <a:ln/>
        </p:spPr>
      </p:sp>
      <p:sp>
        <p:nvSpPr>
          <p:cNvPr id="21" name="Text 19"/>
          <p:cNvSpPr/>
          <p:nvPr/>
        </p:nvSpPr>
        <p:spPr>
          <a:xfrm>
            <a:off x="1005840" y="5166360"/>
            <a:ext cx="10543032" cy="402336"/>
          </a:xfrm>
          <a:prstGeom prst="rect">
            <a:avLst/>
          </a:prstGeom>
          <a:noFill/>
          <a:ln/>
        </p:spPr>
        <p:txBody>
          <a:bodyPr wrap="square" lIns="0" tIns="0" rIns="0" bIns="0" rtlCol="0" anchor="ctr"/>
          <a:lstStyle/>
          <a:p>
            <a:pPr indent="0" marL="0">
              <a:buNone/>
            </a:pPr>
            <a:r>
              <a:rPr lang="en-US" sz="1350" dirty="0">
                <a:solidFill>
                  <a:srgbClr val="E8EEF7"/>
                </a:solidFill>
                <a:latin typeface="Calibri" pitchFamily="34" charset="0"/>
                <a:ea typeface="Calibri" pitchFamily="34" charset="-122"/>
                <a:cs typeface="Calibri" pitchFamily="34" charset="-120"/>
              </a:rPr>
              <a:t>Every transfer is a recommendation. A human officer approves, which is how it survives audit.</a:t>
            </a:r>
            <a:endParaRPr lang="en-US" sz="1350" dirty="0"/>
          </a:p>
        </p:txBody>
      </p:sp>
      <p:pic>
        <p:nvPicPr>
          <p:cNvPr id="22"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23" name="Text 20"/>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24" name="Text 21"/>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640080" y="411480"/>
            <a:ext cx="10908792"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WHAT WE ARE NOT CLAIMING</a:t>
            </a:r>
            <a:endParaRPr lang="en-US" sz="1100" dirty="0"/>
          </a:p>
        </p:txBody>
      </p:sp>
      <p:sp>
        <p:nvSpPr>
          <p:cNvPr id="3" name="Text 1"/>
          <p:cNvSpPr/>
          <p:nvPr/>
        </p:nvSpPr>
        <p:spPr>
          <a:xfrm>
            <a:off x="640080" y="713232"/>
            <a:ext cx="10908792" cy="1051560"/>
          </a:xfrm>
          <a:prstGeom prst="rect">
            <a:avLst/>
          </a:prstGeom>
          <a:noFill/>
          <a:ln/>
        </p:spPr>
        <p:txBody>
          <a:bodyPr wrap="square" lIns="0" tIns="0" rIns="0" bIns="0" rtlCol="0" anchor="t"/>
          <a:lstStyle/>
          <a:p>
            <a:pPr indent="0" marL="0">
              <a:buNone/>
            </a:pPr>
            <a:r>
              <a:rPr lang="en-US" sz="3400" b="1" dirty="0">
                <a:solidFill>
                  <a:srgbClr val="E8EEF7"/>
                </a:solidFill>
                <a:latin typeface="Calibri" pitchFamily="34" charset="0"/>
                <a:ea typeface="Calibri" pitchFamily="34" charset="-122"/>
                <a:cs typeface="Calibri" pitchFamily="34" charset="-120"/>
              </a:rPr>
              <a:t>Where this is weaker than it looks.</a:t>
            </a:r>
            <a:endParaRPr lang="en-US" sz="3400" dirty="0"/>
          </a:p>
        </p:txBody>
      </p:sp>
      <p:sp>
        <p:nvSpPr>
          <p:cNvPr id="4" name="Shape 2"/>
          <p:cNvSpPr/>
          <p:nvPr/>
        </p:nvSpPr>
        <p:spPr>
          <a:xfrm>
            <a:off x="640080" y="1874520"/>
            <a:ext cx="5367528" cy="1463040"/>
          </a:xfrm>
          <a:prstGeom prst="roundRect">
            <a:avLst>
              <a:gd name="adj" fmla="val 3750"/>
            </a:avLst>
          </a:prstGeom>
          <a:solidFill>
            <a:srgbClr val="161D2E"/>
          </a:solidFill>
          <a:ln w="12700">
            <a:solidFill>
              <a:srgbClr val="2C3850"/>
            </a:solidFill>
            <a:prstDash val="solid"/>
          </a:ln>
        </p:spPr>
      </p:sp>
      <p:sp>
        <p:nvSpPr>
          <p:cNvPr id="5" name="Text 3"/>
          <p:cNvSpPr/>
          <p:nvPr/>
        </p:nvSpPr>
        <p:spPr>
          <a:xfrm>
            <a:off x="914400" y="2057400"/>
            <a:ext cx="4818888"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Distance is approximate</a:t>
            </a:r>
            <a:endParaRPr lang="en-US" sz="1400" dirty="0"/>
          </a:p>
        </p:txBody>
      </p:sp>
      <p:sp>
        <p:nvSpPr>
          <p:cNvPr id="6" name="Text 4"/>
          <p:cNvSpPr/>
          <p:nvPr/>
        </p:nvSpPr>
        <p:spPr>
          <a:xfrm>
            <a:off x="914400" y="2404872"/>
            <a:ext cx="4818888" cy="822960"/>
          </a:xfrm>
          <a:prstGeom prst="rect">
            <a:avLst/>
          </a:prstGeom>
          <a:noFill/>
          <a:ln/>
        </p:spPr>
        <p:txBody>
          <a:bodyPr wrap="square" lIns="0" tIns="0" rIns="0" bIns="0" rtlCol="0" anchor="t"/>
          <a:lstStyle/>
          <a:p>
            <a:pPr indent="0" marL="0">
              <a:lnSpc>
                <a:spcPct val="125000"/>
              </a:lnSpc>
              <a:buNone/>
            </a:pPr>
            <a:r>
              <a:rPr lang="en-US" sz="1200" dirty="0">
                <a:solidFill>
                  <a:srgbClr val="94A3B8"/>
                </a:solidFill>
                <a:latin typeface="Calibri" pitchFamily="34" charset="0"/>
                <a:ea typeface="Calibri" pitchFamily="34" charset="-122"/>
                <a:cs typeface="Calibri" pitchFamily="34" charset="-120"/>
              </a:rPr>
              <a:t>Straight-line times 1.35, not real routing. A river breaks individual proposals. Google Maps Routes API is a one-line swap.</a:t>
            </a:r>
            <a:endParaRPr lang="en-US" sz="1200" dirty="0"/>
          </a:p>
        </p:txBody>
      </p:sp>
      <p:sp>
        <p:nvSpPr>
          <p:cNvPr id="7" name="Shape 5"/>
          <p:cNvSpPr/>
          <p:nvPr/>
        </p:nvSpPr>
        <p:spPr>
          <a:xfrm>
            <a:off x="6181344" y="1874520"/>
            <a:ext cx="5367528" cy="1463040"/>
          </a:xfrm>
          <a:prstGeom prst="roundRect">
            <a:avLst>
              <a:gd name="adj" fmla="val 3750"/>
            </a:avLst>
          </a:prstGeom>
          <a:solidFill>
            <a:srgbClr val="161D2E"/>
          </a:solidFill>
          <a:ln w="12700">
            <a:solidFill>
              <a:srgbClr val="2C3850"/>
            </a:solidFill>
            <a:prstDash val="solid"/>
          </a:ln>
        </p:spPr>
      </p:sp>
      <p:sp>
        <p:nvSpPr>
          <p:cNvPr id="8" name="Text 6"/>
          <p:cNvSpPr/>
          <p:nvPr/>
        </p:nvSpPr>
        <p:spPr>
          <a:xfrm>
            <a:off x="6455664" y="2057400"/>
            <a:ext cx="4818888"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matcher is greedy, not optimal</a:t>
            </a:r>
            <a:endParaRPr lang="en-US" sz="1400" dirty="0"/>
          </a:p>
        </p:txBody>
      </p:sp>
      <p:sp>
        <p:nvSpPr>
          <p:cNvPr id="9" name="Text 7"/>
          <p:cNvSpPr/>
          <p:nvPr/>
        </p:nvSpPr>
        <p:spPr>
          <a:xfrm>
            <a:off x="6455664" y="2404872"/>
            <a:ext cx="4818888" cy="822960"/>
          </a:xfrm>
          <a:prstGeom prst="rect">
            <a:avLst/>
          </a:prstGeom>
          <a:noFill/>
          <a:ln/>
        </p:spPr>
        <p:txBody>
          <a:bodyPr wrap="square" lIns="0" tIns="0" rIns="0" bIns="0" rtlCol="0" anchor="t"/>
          <a:lstStyle/>
          <a:p>
            <a:pPr indent="0" marL="0">
              <a:lnSpc>
                <a:spcPct val="125000"/>
              </a:lnSpc>
              <a:buNone/>
            </a:pPr>
            <a:r>
              <a:rPr lang="en-US" sz="1200" dirty="0">
                <a:solidFill>
                  <a:srgbClr val="94A3B8"/>
                </a:solidFill>
                <a:latin typeface="Calibri" pitchFamily="34" charset="0"/>
                <a:ea typeface="Calibri" pitchFamily="34" charset="-122"/>
                <a:cs typeface="Calibri" pitchFamily="34" charset="-120"/>
              </a:rPr>
              <a:t>Deliberate. An officer must follow why a proposal exists, and an optimal plan nobody trusts delivers nothing.</a:t>
            </a:r>
            <a:endParaRPr lang="en-US" sz="1200" dirty="0"/>
          </a:p>
        </p:txBody>
      </p:sp>
      <p:sp>
        <p:nvSpPr>
          <p:cNvPr id="10" name="Shape 8"/>
          <p:cNvSpPr/>
          <p:nvPr/>
        </p:nvSpPr>
        <p:spPr>
          <a:xfrm>
            <a:off x="640080" y="3566160"/>
            <a:ext cx="5367528" cy="1463040"/>
          </a:xfrm>
          <a:prstGeom prst="roundRect">
            <a:avLst>
              <a:gd name="adj" fmla="val 3750"/>
            </a:avLst>
          </a:prstGeom>
          <a:solidFill>
            <a:srgbClr val="161D2E"/>
          </a:solidFill>
          <a:ln w="12700">
            <a:solidFill>
              <a:srgbClr val="2C3850"/>
            </a:solidFill>
            <a:prstDash val="solid"/>
          </a:ln>
        </p:spPr>
      </p:sp>
      <p:sp>
        <p:nvSpPr>
          <p:cNvPr id="11" name="Text 9"/>
          <p:cNvSpPr/>
          <p:nvPr/>
        </p:nvSpPr>
        <p:spPr>
          <a:xfrm>
            <a:off x="914400" y="3749040"/>
            <a:ext cx="4818888"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data is simulated</a:t>
            </a:r>
            <a:endParaRPr lang="en-US" sz="1400" dirty="0"/>
          </a:p>
        </p:txBody>
      </p:sp>
      <p:sp>
        <p:nvSpPr>
          <p:cNvPr id="12" name="Text 10"/>
          <p:cNvSpPr/>
          <p:nvPr/>
        </p:nvSpPr>
        <p:spPr>
          <a:xfrm>
            <a:off x="914400" y="4096512"/>
            <a:ext cx="4818888" cy="822960"/>
          </a:xfrm>
          <a:prstGeom prst="rect">
            <a:avLst/>
          </a:prstGeom>
          <a:noFill/>
          <a:ln/>
        </p:spPr>
        <p:txBody>
          <a:bodyPr wrap="square" lIns="0" tIns="0" rIns="0" bIns="0" rtlCol="0" anchor="t"/>
          <a:lstStyle/>
          <a:p>
            <a:pPr indent="0" marL="0">
              <a:lnSpc>
                <a:spcPct val="125000"/>
              </a:lnSpc>
              <a:buNone/>
            </a:pPr>
            <a:r>
              <a:rPr lang="en-US" sz="1200" dirty="0">
                <a:solidFill>
                  <a:srgbClr val="94A3B8"/>
                </a:solidFill>
                <a:latin typeface="Calibri" pitchFamily="34" charset="0"/>
                <a:ea typeface="Calibri" pitchFamily="34" charset="-122"/>
                <a:cs typeface="Calibri" pitchFamily="34" charset="-120"/>
              </a:rPr>
              <a:t>No ministry publishes facility-level stock, which is part of the problem. Calibrated to five published measures, within tolerance on all five.</a:t>
            </a:r>
            <a:endParaRPr lang="en-US" sz="1200" dirty="0"/>
          </a:p>
        </p:txBody>
      </p:sp>
      <p:sp>
        <p:nvSpPr>
          <p:cNvPr id="13" name="Shape 11"/>
          <p:cNvSpPr/>
          <p:nvPr/>
        </p:nvSpPr>
        <p:spPr>
          <a:xfrm>
            <a:off x="6181344" y="3566160"/>
            <a:ext cx="5367528" cy="1463040"/>
          </a:xfrm>
          <a:prstGeom prst="roundRect">
            <a:avLst>
              <a:gd name="adj" fmla="val 3750"/>
            </a:avLst>
          </a:prstGeom>
          <a:solidFill>
            <a:srgbClr val="161D2E"/>
          </a:solidFill>
          <a:ln w="12700">
            <a:solidFill>
              <a:srgbClr val="2C3850"/>
            </a:solidFill>
            <a:prstDash val="solid"/>
          </a:ln>
        </p:spPr>
      </p:sp>
      <p:sp>
        <p:nvSpPr>
          <p:cNvPr id="14" name="Text 12"/>
          <p:cNvSpPr/>
          <p:nvPr/>
        </p:nvSpPr>
        <p:spPr>
          <a:xfrm>
            <a:off x="6455664" y="3749040"/>
            <a:ext cx="4818888"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Outbreaks are the blind spot</a:t>
            </a:r>
            <a:endParaRPr lang="en-US" sz="1400" dirty="0"/>
          </a:p>
        </p:txBody>
      </p:sp>
      <p:sp>
        <p:nvSpPr>
          <p:cNvPr id="15" name="Text 13"/>
          <p:cNvSpPr/>
          <p:nvPr/>
        </p:nvSpPr>
        <p:spPr>
          <a:xfrm>
            <a:off x="6455664" y="4096512"/>
            <a:ext cx="4818888" cy="822960"/>
          </a:xfrm>
          <a:prstGeom prst="rect">
            <a:avLst/>
          </a:prstGeom>
          <a:noFill/>
          <a:ln/>
        </p:spPr>
        <p:txBody>
          <a:bodyPr wrap="square" lIns="0" tIns="0" rIns="0" bIns="0" rtlCol="0" anchor="t"/>
          <a:lstStyle/>
          <a:p>
            <a:pPr indent="0" marL="0">
              <a:lnSpc>
                <a:spcPct val="125000"/>
              </a:lnSpc>
              <a:buNone/>
            </a:pPr>
            <a:r>
              <a:rPr lang="en-US" sz="1200" dirty="0">
                <a:solidFill>
                  <a:srgbClr val="94A3B8"/>
                </a:solidFill>
                <a:latin typeface="Calibri" pitchFamily="34" charset="0"/>
                <a:ea typeface="Calibri" pitchFamily="34" charset="-122"/>
                <a:cs typeface="Calibri" pitchFamily="34" charset="-120"/>
              </a:rPr>
              <a:t>The forecast assumes last year’s seasonality holds, so a cholera surge is exactly what it would miss, and exactly when the mesh matters most.</a:t>
            </a:r>
            <a:endParaRPr lang="en-US" sz="1200" dirty="0"/>
          </a:p>
        </p:txBody>
      </p:sp>
      <p:sp>
        <p:nvSpPr>
          <p:cNvPr id="16" name="Text 14"/>
          <p:cNvSpPr/>
          <p:nvPr/>
        </p:nvSpPr>
        <p:spPr>
          <a:xfrm>
            <a:off x="640080" y="5349240"/>
            <a:ext cx="10908792" cy="457200"/>
          </a:xfrm>
          <a:prstGeom prst="rect">
            <a:avLst/>
          </a:prstGeom>
          <a:noFill/>
          <a:ln/>
        </p:spPr>
        <p:txBody>
          <a:bodyPr wrap="square" lIns="0" tIns="0" rIns="0" bIns="0" rtlCol="0" anchor="ctr"/>
          <a:lstStyle/>
          <a:p>
            <a:pPr indent="0" marL="0">
              <a:buNone/>
            </a:pPr>
            <a:r>
              <a:rPr lang="en-US" sz="1200" dirty="0">
                <a:solidFill>
                  <a:srgbClr val="E8EEF7"/>
                </a:solidFill>
                <a:latin typeface="Calibri" pitchFamily="34" charset="0"/>
                <a:ea typeface="Calibri" pitchFamily="34" charset="-122"/>
                <a:cs typeface="Calibri" pitchFamily="34" charset="-120"/>
              </a:rPr>
              <a:t>Calibration: stock-outs 79.3% against 85.6% published, overstock 55.6% against 50.6%, mean stock-out duration 21.7 days against 22.4. The generator self-checks on every run.</a:t>
            </a:r>
            <a:endParaRPr lang="en-US" sz="1200" dirty="0"/>
          </a:p>
        </p:txBody>
      </p:sp>
      <p:pic>
        <p:nvPicPr>
          <p:cNvPr id="17" name="Image 0" descr="preencoded.png">    </p:cNvPr>
          <p:cNvPicPr>
            <a:picLocks noChangeAspect="1"/>
          </p:cNvPicPr>
          <p:nvPr/>
        </p:nvPicPr>
        <p:blipFill>
          <a:blip r:embed="rId1"/>
          <a:stretch>
            <a:fillRect/>
          </a:stretch>
        </p:blipFill>
        <p:spPr>
          <a:xfrm>
            <a:off x="640080" y="6327648"/>
            <a:ext cx="256032" cy="256032"/>
          </a:xfrm>
          <a:prstGeom prst="rect">
            <a:avLst/>
          </a:prstGeom>
        </p:spPr>
      </p:pic>
      <p:sp>
        <p:nvSpPr>
          <p:cNvPr id="18" name="Text 15"/>
          <p:cNvSpPr/>
          <p:nvPr/>
        </p:nvSpPr>
        <p:spPr>
          <a:xfrm>
            <a:off x="987552" y="6327648"/>
            <a:ext cx="4572000" cy="256032"/>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MedMesh  ·  Two Clocks</a:t>
            </a:r>
            <a:endParaRPr lang="en-US" sz="1000" dirty="0"/>
          </a:p>
        </p:txBody>
      </p:sp>
      <p:sp>
        <p:nvSpPr>
          <p:cNvPr id="19" name="Text 16"/>
          <p:cNvSpPr/>
          <p:nvPr/>
        </p:nvSpPr>
        <p:spPr>
          <a:xfrm>
            <a:off x="11091672" y="6327648"/>
            <a:ext cx="457200" cy="25603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1234440"/>
            <a:ext cx="685800" cy="685800"/>
          </a:xfrm>
          <a:prstGeom prst="rect">
            <a:avLst/>
          </a:prstGeom>
        </p:spPr>
      </p:pic>
      <p:sp>
        <p:nvSpPr>
          <p:cNvPr id="3" name="Text 0"/>
          <p:cNvSpPr/>
          <p:nvPr/>
        </p:nvSpPr>
        <p:spPr>
          <a:xfrm>
            <a:off x="640080" y="2148840"/>
            <a:ext cx="10908792" cy="685800"/>
          </a:xfrm>
          <a:prstGeom prst="rect">
            <a:avLst/>
          </a:prstGeom>
          <a:noFill/>
          <a:ln/>
        </p:spPr>
        <p:txBody>
          <a:bodyPr wrap="square" lIns="0" tIns="0" rIns="0" bIns="0" rtlCol="0" anchor="ctr"/>
          <a:lstStyle/>
          <a:p>
            <a:pPr indent="0" marL="0">
              <a:buNone/>
            </a:pPr>
            <a:r>
              <a:rPr lang="en-US" sz="4000" b="1" dirty="0">
                <a:solidFill>
                  <a:srgbClr val="E8EEF7"/>
                </a:solidFill>
                <a:latin typeface="Calibri" pitchFamily="34" charset="0"/>
                <a:ea typeface="Calibri" pitchFamily="34" charset="-122"/>
                <a:cs typeface="Calibri" pitchFamily="34" charset="-120"/>
              </a:rPr>
              <a:t>The medicine already exists.</a:t>
            </a:r>
            <a:endParaRPr lang="en-US" sz="4000" dirty="0"/>
          </a:p>
        </p:txBody>
      </p:sp>
      <p:sp>
        <p:nvSpPr>
          <p:cNvPr id="4" name="Text 1"/>
          <p:cNvSpPr/>
          <p:nvPr/>
        </p:nvSpPr>
        <p:spPr>
          <a:xfrm>
            <a:off x="640080" y="2834640"/>
            <a:ext cx="10908792" cy="685800"/>
          </a:xfrm>
          <a:prstGeom prst="rect">
            <a:avLst/>
          </a:prstGeom>
          <a:noFill/>
          <a:ln/>
        </p:spPr>
        <p:txBody>
          <a:bodyPr wrap="square" lIns="0" tIns="0" rIns="0" bIns="0" rtlCol="0" anchor="ctr"/>
          <a:lstStyle/>
          <a:p>
            <a:pPr indent="0" marL="0">
              <a:buNone/>
            </a:pPr>
            <a:r>
              <a:rPr lang="en-US" sz="4000" b="1" dirty="0">
                <a:solidFill>
                  <a:srgbClr val="2DD4A7"/>
                </a:solidFill>
                <a:latin typeface="Calibri" pitchFamily="34" charset="0"/>
                <a:ea typeface="Calibri" pitchFamily="34" charset="-122"/>
                <a:cs typeface="Calibri" pitchFamily="34" charset="-120"/>
              </a:rPr>
              <a:t>It is in the wrong place.</a:t>
            </a:r>
            <a:endParaRPr lang="en-US" sz="4000" dirty="0"/>
          </a:p>
        </p:txBody>
      </p:sp>
      <p:sp>
        <p:nvSpPr>
          <p:cNvPr id="5" name="Text 2"/>
          <p:cNvSpPr/>
          <p:nvPr/>
        </p:nvSpPr>
        <p:spPr>
          <a:xfrm>
            <a:off x="640080" y="3794760"/>
            <a:ext cx="8961120" cy="777240"/>
          </a:xfrm>
          <a:prstGeom prst="rect">
            <a:avLst/>
          </a:prstGeom>
          <a:noFill/>
          <a:ln/>
        </p:spPr>
        <p:txBody>
          <a:bodyPr wrap="square" lIns="0" tIns="0" rIns="0" bIns="0" rtlCol="0" anchor="ctr"/>
          <a:lstStyle/>
          <a:p>
            <a:pPr indent="0" marL="0">
              <a:lnSpc>
                <a:spcPct val="135000"/>
              </a:lnSpc>
              <a:buNone/>
            </a:pPr>
            <a:r>
              <a:rPr lang="en-US" sz="1500" dirty="0">
                <a:solidFill>
                  <a:srgbClr val="94A3B8"/>
                </a:solidFill>
                <a:latin typeface="Calibri" pitchFamily="34" charset="0"/>
                <a:ea typeface="Calibri" pitchFamily="34" charset="-122"/>
                <a:cs typeface="Calibri" pitchFamily="34" charset="-120"/>
              </a:rPr>
              <a:t>Two clinics eleven kilometres apart, one binning insulin and one without any. That is not a supply problem. It is a visibility problem with a shape nobody built for.</a:t>
            </a:r>
            <a:endParaRPr lang="en-US" sz="1500" dirty="0"/>
          </a:p>
        </p:txBody>
      </p:sp>
      <p:sp>
        <p:nvSpPr>
          <p:cNvPr id="6" name="Text 3"/>
          <p:cNvSpPr/>
          <p:nvPr/>
        </p:nvSpPr>
        <p:spPr>
          <a:xfrm>
            <a:off x="640080" y="4754880"/>
            <a:ext cx="10908792" cy="274320"/>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What we are asking for</a:t>
            </a:r>
            <a:endParaRPr lang="en-US" sz="1100" dirty="0"/>
          </a:p>
        </p:txBody>
      </p:sp>
      <p:sp>
        <p:nvSpPr>
          <p:cNvPr id="7" name="Text 4"/>
          <p:cNvSpPr/>
          <p:nvPr/>
        </p:nvSpPr>
        <p:spPr>
          <a:xfrm>
            <a:off x="640080" y="5029200"/>
            <a:ext cx="10908792" cy="411480"/>
          </a:xfrm>
          <a:prstGeom prst="rect">
            <a:avLst/>
          </a:prstGeom>
          <a:noFill/>
          <a:ln/>
        </p:spPr>
        <p:txBody>
          <a:bodyPr wrap="square" lIns="0" tIns="0" rIns="0" bIns="0" rtlCol="0" anchor="ctr"/>
          <a:lstStyle/>
          <a:p>
            <a:pPr indent="0" marL="0">
              <a:buNone/>
            </a:pPr>
            <a:r>
              <a:rPr lang="en-US" sz="2000" b="1" dirty="0">
                <a:solidFill>
                  <a:srgbClr val="E8EEF7"/>
                </a:solidFill>
                <a:latin typeface="Calibri" pitchFamily="34" charset="0"/>
                <a:ea typeface="Calibri" pitchFamily="34" charset="-122"/>
                <a:cs typeface="Calibri" pitchFamily="34" charset="-120"/>
              </a:rPr>
              <a:t>One district. One quarter. Beside the system that is already there.</a:t>
            </a:r>
            <a:endParaRPr lang="en-US" sz="2000" dirty="0"/>
          </a:p>
        </p:txBody>
      </p:sp>
      <p:sp>
        <p:nvSpPr>
          <p:cNvPr id="8" name="Text 5"/>
          <p:cNvSpPr/>
          <p:nvPr/>
        </p:nvSpPr>
        <p:spPr>
          <a:xfrm>
            <a:off x="640080" y="5760720"/>
            <a:ext cx="10908792"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Team Two Clocks   ·   github.com/Baralashutosh/GOOGLE-HACKATHON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MedMesh</dc:title>
  <dc:subject>PptxGenJS Presentation</dc:subject>
  <dc:creator>Two Clocks</dc:creator>
  <cp:lastModifiedBy>Two Clocks</cp:lastModifiedBy>
  <cp:revision>1</cp:revision>
  <dcterms:created xsi:type="dcterms:W3CDTF">2026-08-18T09:23:34Z</dcterms:created>
  <dcterms:modified xsi:type="dcterms:W3CDTF">2026-08-18T09:23:34Z</dcterms:modified>
</cp:coreProperties>
</file>