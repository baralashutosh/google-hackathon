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MedMesh, from team Two Clocks. One sentence: the medicine already exists, it is in the wrong place. Health systems across BRICS stock out of a drug and expire that same drug in the same district in the same quarter.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contradiction is measured, not asserted. Same district, same year: 85.6% of medicines stocked out while half were overstocked and 15% expired.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that reframes the problem. Everyone assumes the gap is visibility. Fifteen years of visibility software, and community health worker stock-outs nearly doubled.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logistics system ever built is a tree. Facility reports up, warehouse reports up. No sideways channel. A clinic 11km away with expiring stock is invisible.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technical core and the reason the team is called Two Clocks.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one is the one everybody skips, and it is why every previous system failed at the last mile.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Drug name matching is deterministic code, never a model decision. Letting an LLM pick the molecule invites a confident invisible substitution, and confidently wrong medicine is the failure that ends a pilot.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insulin case is the whole product in one line. Lead with it if time is short.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cross-border slide. The hemisphere point is the strongest single argument that pooling across BRICS is arithmetic rather than diplomacy.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Judges weight deployability heavily. The key line: this is the module they are missing, not a replacement for anything.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Saying this out loud buys more credibility than it costs. Judges assume weaknesses exist; naming them first means they trust the rest.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insulin image. Ask for one district, one quarter. Small ask, concrete, and it is genuinely all we need to prove this.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71600"/>
            <a:ext cx="777240" cy="777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286000"/>
            <a:ext cx="109087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MedMesh</a:t>
            </a:r>
            <a:endParaRPr lang="en-US" sz="5400" dirty="0"/>
          </a:p>
        </p:txBody>
      </p:sp>
      <p:sp>
        <p:nvSpPr>
          <p:cNvPr id="4" name="Text 1"/>
          <p:cNvSpPr/>
          <p:nvPr/>
        </p:nvSpPr>
        <p:spPr>
          <a:xfrm>
            <a:off x="640080" y="315468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medicine already exists. It is in the wrong place.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640080" y="388620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health systems run out of a medicine and throw the same medicine away, in the same district, in the same quarter.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40080" y="502920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D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Two Clocks   ·   Track 03, Smart Health and Supply Chain Resilience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" y="532180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with AI: Code for Communities, Second Edition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DD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PROBLEM, MEASURED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087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district. Both failures at once.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29000" cy="1691640"/>
          </a:xfrm>
          <a:prstGeom prst="roundRect">
            <a:avLst>
              <a:gd name="adj" fmla="val 4324"/>
            </a:avLst>
          </a:prstGeom>
          <a:solidFill>
            <a:srgbClr val="161D2E"/>
          </a:solidFill>
          <a:ln w="12700">
            <a:solidFill>
              <a:srgbClr val="2C38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99339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4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85.6%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68680" y="2542032"/>
            <a:ext cx="2971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medicines hit by stock-outs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3081528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King Cetshwayo, South Africa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79976" y="1828800"/>
            <a:ext cx="3429000" cy="1691640"/>
          </a:xfrm>
          <a:prstGeom prst="roundRect">
            <a:avLst>
              <a:gd name="adj" fmla="val 4324"/>
            </a:avLst>
          </a:prstGeom>
          <a:solidFill>
            <a:srgbClr val="161D2E"/>
          </a:solidFill>
          <a:ln w="12700">
            <a:solidFill>
              <a:srgbClr val="2C38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08576" y="199339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50.6%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608576" y="2542032"/>
            <a:ext cx="2971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same medicines overstocked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08576" y="3081528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district, same study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119872" y="1828800"/>
            <a:ext cx="3429000" cy="1691640"/>
          </a:xfrm>
          <a:prstGeom prst="roundRect">
            <a:avLst>
              <a:gd name="adj" fmla="val 4324"/>
            </a:avLst>
          </a:prstGeom>
          <a:solidFill>
            <a:srgbClr val="161D2E"/>
          </a:solidFill>
          <a:ln w="12700">
            <a:solidFill>
              <a:srgbClr val="2C38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48472" y="199339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15.2%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348472" y="2542032"/>
            <a:ext cx="2971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to expiry, unused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348472" y="3081528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BMC Health Serv Res, 2023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379476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not three different places. They are one district, one year, one shelf.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40080" y="4343400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Brazil:  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 of 3,360 municipalities reported shortages, while 5 to 20% of publicly purchased medicines were wasted.  (CNM, 2022)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4754880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India:  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52% of essential medicines available in more than 80% of primary facilities.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5166360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WHO, 2010 to 2019:  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facilities with core essential medicines available ranged 8% to 41% across low and lower-middle income countries.</a:t>
            </a:r>
            <a:endParaRPr lang="en-US" sz="13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327648"/>
            <a:ext cx="256032" cy="256032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987552" y="632764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MedMesh  ·  Two Clocks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1091672" y="632764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DD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 THAT SHOULD WORRY A MINISTRY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087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built the tracking. Stock-outs doubled anyway.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828800"/>
          </a:xfrm>
          <a:prstGeom prst="roundRect">
            <a:avLst>
              <a:gd name="adj" fmla="val 4000"/>
            </a:avLst>
          </a:prstGeom>
          <a:solidFill>
            <a:srgbClr val="161D2E"/>
          </a:solidFill>
          <a:ln w="12700">
            <a:solidFill>
              <a:srgbClr val="2C38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22860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26.4%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097280" y="30632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2006 to 2015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749040" y="2606040"/>
            <a:ext cx="1005840" cy="310896"/>
          </a:xfrm>
          <a:prstGeom prst="rightArrow">
            <a:avLst/>
          </a:prstGeom>
          <a:solidFill>
            <a:srgbClr val="2C3850"/>
          </a:solidFill>
          <a:ln/>
        </p:spPr>
      </p:sp>
      <p:sp>
        <p:nvSpPr>
          <p:cNvPr id="8" name="Text 6"/>
          <p:cNvSpPr/>
          <p:nvPr/>
        </p:nvSpPr>
        <p:spPr>
          <a:xfrm>
            <a:off x="5212080" y="22860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4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48.7%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5212080" y="30632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 to 2021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38160" y="23317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health worker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stock-out rate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41148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rise happened across exactly the period when logistics systems were rolled out everywhere. OpenLMIS runs in 11,000 facilities. India has DVDMS. Brazil has Hórus. South Africa has ePIMS.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502920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DD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Fifteen years of tracking, and it got worse. Tracking was never the bottleneck.</a:t>
            </a:r>
            <a:endParaRPr lang="en-US" sz="19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327648"/>
            <a:ext cx="256032" cy="25603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987552" y="632764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MedMesh  ·  Two Clocks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1091672" y="632764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DD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FIFTEEN YEARS OF SOFTWARE MISSED 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087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supply system is a tree. Medicine needs a mesh.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212080" cy="2834640"/>
          </a:xfrm>
          <a:prstGeom prst="roundRect">
            <a:avLst>
              <a:gd name="adj" fmla="val 2581"/>
            </a:avLst>
          </a:prstGeom>
          <a:solidFill>
            <a:srgbClr val="161D2E"/>
          </a:solidFill>
          <a:ln w="12700">
            <a:solidFill>
              <a:srgbClr val="2C38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1031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exists today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063240" y="2514600"/>
            <a:ext cx="310896" cy="310896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7" name="Shape 5"/>
          <p:cNvSpPr/>
          <p:nvPr/>
        </p:nvSpPr>
        <p:spPr>
          <a:xfrm>
            <a:off x="3218688" y="2825496"/>
            <a:ext cx="-1508760" cy="603504"/>
          </a:xfrm>
          <a:prstGeom prst="line">
            <a:avLst/>
          </a:prstGeom>
          <a:noFill/>
          <a:ln w="19050">
            <a:solidFill>
              <a:srgbClr val="2C38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18688" y="2825496"/>
            <a:ext cx="0" cy="603504"/>
          </a:xfrm>
          <a:prstGeom prst="line">
            <a:avLst/>
          </a:prstGeom>
          <a:noFill/>
          <a:ln w="19050">
            <a:solidFill>
              <a:srgbClr val="2C38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18688" y="2825496"/>
            <a:ext cx="1508760" cy="603504"/>
          </a:xfrm>
          <a:prstGeom prst="line">
            <a:avLst/>
          </a:prstGeom>
          <a:noFill/>
          <a:ln w="19050">
            <a:solidFill>
              <a:srgbClr val="2C38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54480" y="3429000"/>
            <a:ext cx="310896" cy="310896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11" name="Shape 9"/>
          <p:cNvSpPr/>
          <p:nvPr/>
        </p:nvSpPr>
        <p:spPr>
          <a:xfrm>
            <a:off x="3063240" y="3429000"/>
            <a:ext cx="310896" cy="310896"/>
          </a:xfrm>
          <a:prstGeom prst="ellipse">
            <a:avLst/>
          </a:prstGeom>
          <a:solidFill>
            <a:srgbClr val="2C3850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0" y="3429000"/>
            <a:ext cx="310896" cy="310896"/>
          </a:xfrm>
          <a:prstGeom prst="ellipse">
            <a:avLst/>
          </a:prstGeom>
          <a:solidFill>
            <a:srgbClr val="FF4D5E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9776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two cannot see each other.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429768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reports up and comes back down. There is no sideways.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36792" y="1920240"/>
            <a:ext cx="5212080" cy="2834640"/>
          </a:xfrm>
          <a:prstGeom prst="roundRect">
            <a:avLst>
              <a:gd name="adj" fmla="val 2581"/>
            </a:avLst>
          </a:prstGeom>
          <a:solidFill>
            <a:srgbClr val="161D2E"/>
          </a:solidFill>
          <a:ln w="12700">
            <a:solidFill>
              <a:srgbClr val="2DD4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11112" y="21031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DD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MedMesh adds one edge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759952" y="2514600"/>
            <a:ext cx="310896" cy="310896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18" name="Shape 16"/>
          <p:cNvSpPr/>
          <p:nvPr/>
        </p:nvSpPr>
        <p:spPr>
          <a:xfrm>
            <a:off x="8915400" y="2825496"/>
            <a:ext cx="-1508760" cy="603504"/>
          </a:xfrm>
          <a:prstGeom prst="line">
            <a:avLst/>
          </a:prstGeom>
          <a:noFill/>
          <a:ln w="19050">
            <a:solidFill>
              <a:srgbClr val="2C385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915400" y="2825496"/>
            <a:ext cx="0" cy="603504"/>
          </a:xfrm>
          <a:prstGeom prst="line">
            <a:avLst/>
          </a:prstGeom>
          <a:noFill/>
          <a:ln w="19050">
            <a:solidFill>
              <a:srgbClr val="2C385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15400" y="2825496"/>
            <a:ext cx="1508760" cy="603504"/>
          </a:xfrm>
          <a:prstGeom prst="line">
            <a:avLst/>
          </a:prstGeom>
          <a:noFill/>
          <a:ln w="19050">
            <a:solidFill>
              <a:srgbClr val="2C385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251192" y="3429000"/>
            <a:ext cx="310896" cy="310896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22" name="Shape 20"/>
          <p:cNvSpPr/>
          <p:nvPr/>
        </p:nvSpPr>
        <p:spPr>
          <a:xfrm>
            <a:off x="8759952" y="3429000"/>
            <a:ext cx="310896" cy="310896"/>
          </a:xfrm>
          <a:prstGeom prst="ellipse">
            <a:avLst/>
          </a:prstGeom>
          <a:solidFill>
            <a:srgbClr val="2C3850"/>
          </a:solidFill>
          <a:ln/>
        </p:spPr>
      </p:sp>
      <p:sp>
        <p:nvSpPr>
          <p:cNvPr id="23" name="Shape 21"/>
          <p:cNvSpPr/>
          <p:nvPr/>
        </p:nvSpPr>
        <p:spPr>
          <a:xfrm>
            <a:off x="10268712" y="3429000"/>
            <a:ext cx="310896" cy="310896"/>
          </a:xfrm>
          <a:prstGeom prst="ellipse">
            <a:avLst/>
          </a:prstGeom>
          <a:solidFill>
            <a:srgbClr val="FF4D5E"/>
          </a:solidFill>
          <a:ln/>
        </p:spPr>
      </p:sp>
      <p:sp>
        <p:nvSpPr>
          <p:cNvPr id="24" name="Shape 22"/>
          <p:cNvSpPr/>
          <p:nvPr/>
        </p:nvSpPr>
        <p:spPr>
          <a:xfrm>
            <a:off x="7406640" y="3803904"/>
            <a:ext cx="3017520" cy="0"/>
          </a:xfrm>
          <a:prstGeom prst="line">
            <a:avLst/>
          </a:prstGeom>
          <a:noFill/>
          <a:ln w="31750">
            <a:solidFill>
              <a:srgbClr val="2DD4A7"/>
            </a:solidFill>
            <a:prstDash val="solid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6611112" y="39776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Surplus moves to shortage.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611112" y="429768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link, and the pair becomes visible to each other.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" y="498348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did not invent this gap. The South African study states that the national pharmacy system "lacks a redistribution module". Redistribution is already policy in India, South Africa and Uganda. It runs on phone calls between pharmacists who happen to know each other.</a:t>
            </a:r>
            <a:endParaRPr lang="en-US" sz="1300" dirty="0"/>
          </a:p>
        </p:txBody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327648"/>
            <a:ext cx="256032" cy="256032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987552" y="632764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MedMesh  ·  Two Clocks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11091672" y="632764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DD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087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medicine is racing two clocks.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212080" cy="1828800"/>
          </a:xfrm>
          <a:prstGeom prst="roundRect">
            <a:avLst>
              <a:gd name="adj" fmla="val 4000"/>
            </a:avLst>
          </a:prstGeom>
          <a:solidFill>
            <a:srgbClr val="161D2E"/>
          </a:solidFill>
          <a:ln w="12700">
            <a:solidFill>
              <a:srgbClr val="2C38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17627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4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 one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68680" y="2724912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day it runs out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340156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 badly by existing systems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336792" y="2011680"/>
            <a:ext cx="5212080" cy="1828800"/>
          </a:xfrm>
          <a:prstGeom prst="roundRect">
            <a:avLst>
              <a:gd name="adj" fmla="val 4000"/>
            </a:avLst>
          </a:prstGeom>
          <a:solidFill>
            <a:srgbClr val="161D2E"/>
          </a:solidFill>
          <a:ln w="12700">
            <a:solidFill>
              <a:srgbClr val="2C38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65392" y="217627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 two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565392" y="2724912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day it expires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65392" y="340156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 by almost nobody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4114800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those two questions separately and the answers quietly contradict each other. Ask them together, over the same stock, in one simulation, and you get the truth: a facility can be days from empty while holding stock it will never use.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512064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DD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those clocks collide across two facilities, there is a transfer worth making.</a:t>
            </a:r>
            <a:endParaRPr lang="en-US" sz="19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327648"/>
            <a:ext cx="256032" cy="256032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987552" y="632764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MedMesh  ·  Two Clocks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1091672" y="632764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DD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087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steps, and the first one is the hard one.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429000" cy="3291840"/>
          </a:xfrm>
          <a:prstGeom prst="roundRect">
            <a:avLst>
              <a:gd name="adj" fmla="val 2222"/>
            </a:avLst>
          </a:prstGeom>
          <a:solidFill>
            <a:srgbClr val="161D2E"/>
          </a:solidFill>
          <a:ln w="12700">
            <a:solidFill>
              <a:srgbClr val="2C38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20574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D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96112" y="24231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what the clinic already keeps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96112" y="3154680"/>
            <a:ext cx="2926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primary facilities never file a digital stock count. They keep a paper register and have no intention of adopting software. Gemini reads a phone photo of that page, or a spoken report in Hindi, Portuguese or isiZulu.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96112" y="47731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D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of 42 rows correct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79976" y="1874520"/>
            <a:ext cx="3429000" cy="3291840"/>
          </a:xfrm>
          <a:prstGeom prst="roundRect">
            <a:avLst>
              <a:gd name="adj" fmla="val 2222"/>
            </a:avLst>
          </a:prstGeom>
          <a:solidFill>
            <a:srgbClr val="161D2E"/>
          </a:solidFill>
          <a:ln w="12700">
            <a:solidFill>
              <a:srgbClr val="2C38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36008" y="20574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D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36008" y="24231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both clocks at once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36008" y="3154680"/>
            <a:ext cx="2926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until it runs out and days until it expires, projected together over the same stock in one first-expiry-first-out simulation. Season-aware, because season-blind ordering is the failure being corrected.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636008" y="47731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D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forecast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19872" y="1874520"/>
            <a:ext cx="3429000" cy="3291840"/>
          </a:xfrm>
          <a:prstGeom prst="roundRect">
            <a:avLst>
              <a:gd name="adj" fmla="val 2222"/>
            </a:avLst>
          </a:prstGeom>
          <a:solidFill>
            <a:srgbClr val="161D2E"/>
          </a:solidFill>
          <a:ln w="12700">
            <a:solidFill>
              <a:srgbClr val="2C38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75904" y="20574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D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375904" y="24231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 the move, and the reason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375904" y="3154680"/>
            <a:ext cx="2926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Surplus matched to shortage on distance, urgency and remaining shelf life, then written up as one sentence an officer can approve. Nothing executes on its own.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375904" y="47731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D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human always approves</a:t>
            </a:r>
            <a:endParaRPr lang="en-US" sz="11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327648"/>
            <a:ext cx="256032" cy="256032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987552" y="632764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MedMesh  ·  Two Clocks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1091672" y="632764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DD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GOOGLE AI DOES THE WORK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087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Load-bearing, not decorative.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908792" cy="914400"/>
          </a:xfrm>
          <a:prstGeom prst="roundRect">
            <a:avLst>
              <a:gd name="adj" fmla="val 6000"/>
            </a:avLst>
          </a:prstGeom>
          <a:solidFill>
            <a:srgbClr val="161D2E"/>
          </a:solidFill>
          <a:ln w="12700">
            <a:solidFill>
              <a:srgbClr val="2C38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00253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handwritten paper registers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3317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D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gemini-3.1-flash-lite, vision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389120" y="2075688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entire last mile. Without it, facilities with no digital system cannot join at all.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926080"/>
            <a:ext cx="10908792" cy="914400"/>
          </a:xfrm>
          <a:prstGeom prst="roundRect">
            <a:avLst>
              <a:gd name="adj" fmla="val 6000"/>
            </a:avLst>
          </a:prstGeom>
          <a:solidFill>
            <a:srgbClr val="161D2E"/>
          </a:solidFill>
          <a:ln w="12700">
            <a:solidFill>
              <a:srgbClr val="2C38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05409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spoken stock reports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33832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D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model, native audio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389120" y="3127248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Transcription, translation and structuring in one call, in the worker’s own language.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977640"/>
            <a:ext cx="10908792" cy="914400"/>
          </a:xfrm>
          <a:prstGeom prst="roundRect">
            <a:avLst>
              <a:gd name="adj" fmla="val 6000"/>
            </a:avLst>
          </a:prstGeom>
          <a:solidFill>
            <a:srgbClr val="161D2E"/>
          </a:solidFill>
          <a:ln w="12700">
            <a:solidFill>
              <a:srgbClr val="2C38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10565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officer’s justification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443484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D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gemini-3.5-flash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389120" y="4178808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computed reasoning legible so a human will actually sign it.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0080" y="512064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choice is benchmarked, not assumed. Reading a register is transcription, so flash-lite with thinking disabled does it in under 5 seconds where the larger model took 26 to 35 seconds for a character-identical answer.</a:t>
            </a:r>
            <a:endParaRPr lang="en-US" sz="13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327648"/>
            <a:ext cx="256032" cy="256032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987552" y="632764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MedMesh  ·  Two Clocks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1091672" y="632764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DD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 FACILITIES · 9 DISTRICTS · 3 COUNTRIES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087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mesh found.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161D2E"/>
          </a:solidFill>
          <a:ln w="12700">
            <a:solidFill>
              <a:srgbClr val="2C38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039112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D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13,552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68680" y="2587752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Stock-out days averted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3035808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a patient is not turned away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10712" y="187452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161D2E"/>
          </a:solidFill>
          <a:ln w="12700">
            <a:solidFill>
              <a:srgbClr val="2C38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39312" y="2039112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D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614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639312" y="2587752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Transfers proposed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39312" y="3035808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274 cross a district boundary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81344" y="187452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161D2E"/>
          </a:solidFill>
          <a:ln w="12700">
            <a:solidFill>
              <a:srgbClr val="2C38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9944" y="2039112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/ 99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409944" y="2587752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Facilities helped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9944" y="3035808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Received a viable transfer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951976" y="187452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161D2E"/>
          </a:solidFill>
          <a:ln w="12700">
            <a:solidFill>
              <a:srgbClr val="2C38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80576" y="2039112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96,935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9180576" y="2587752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of waste averted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80576" y="3035808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genuinely doomed stock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" y="3749040"/>
            <a:ext cx="10908792" cy="1481328"/>
          </a:xfrm>
          <a:prstGeom prst="roundRect">
            <a:avLst>
              <a:gd name="adj" fmla="val 4938"/>
            </a:avLst>
          </a:prstGeom>
          <a:solidFill>
            <a:srgbClr val="161D2E"/>
          </a:solidFill>
          <a:ln w="12700">
            <a:solidFill>
              <a:srgbClr val="2DD4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3913632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DD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proposal, unedited from the run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60120" y="4206240"/>
            <a:ext cx="10241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418 vials of human insulin.  CHC Manguzi to CHC Mtubatuba, uMkhanyakude, 11.1 km. Batch expires 26 October. Averts 47 stock-out days.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60120" y="4828032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clinics eleven kilometres apart. One about to bin insulin, one about to run out of it. Neither can see the other today.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0080" y="5413248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averted counts only units the projection says would have expired unused. Stock merely moved somewhere more useful is not counted, which makes the number smaller and defensible.</a:t>
            </a:r>
            <a:endParaRPr lang="en-US" sz="1150" dirty="0"/>
          </a:p>
        </p:txBody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327648"/>
            <a:ext cx="256032" cy="256032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987552" y="632764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MedMesh  ·  Two Clocks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11091672" y="632764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DD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COOPERATION AS ARITHMETIC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087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Malaria season in India is the off-season in Brazil.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Medicines are keyed to WHO ATC codes rather than national product codes, so an Indian PHC, a Brazilian UBS and a South African clinic describe the same molecule identically. One country’s surplus can be matched against another’s shortfall.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697480"/>
            <a:ext cx="10908792" cy="1371600"/>
          </a:xfrm>
          <a:prstGeom prst="roundRect">
            <a:avLst>
              <a:gd name="adj" fmla="val 5333"/>
            </a:avLst>
          </a:prstGeom>
          <a:solidFill>
            <a:srgbClr val="161D2E"/>
          </a:solidFill>
          <a:ln w="12700">
            <a:solidFill>
              <a:srgbClr val="2DD4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9260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Africa  →  India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60120" y="336499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D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53,934 units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212080" y="2971800"/>
            <a:ext cx="594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Artemether-Lumefantrine. Their antimalarial surplus sits in India’s shortfall, because the malaria seasons are six months out of phase.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0080" y="425196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Hemispheres are modelled explicitly, which turns a slogan into a calculation.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470916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at national level, not facility to facility. A truck between Bihar and Amazonas is a slide, not logistics. The same engine runs unchanged in any BRICS member, because the join key is a molecule, not a country.</a:t>
            </a:r>
            <a:endParaRPr lang="en-US" sz="13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327648"/>
            <a:ext cx="256032" cy="25603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987552" y="632764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MedMesh  ·  Two Clocks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091672" y="632764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DD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DEPLOYABILITY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087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replacement. The module they are missing.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429000" cy="1097280"/>
          </a:xfrm>
          <a:prstGeom prst="roundRect">
            <a:avLst>
              <a:gd name="adj" fmla="val 5000"/>
            </a:avLst>
          </a:prstGeom>
          <a:solidFill>
            <a:srgbClr val="161D2E"/>
          </a:solidFill>
          <a:ln w="12700">
            <a:solidFill>
              <a:srgbClr val="2C38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214884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96112" y="245059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DVDMS / e-Aushadhi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379976" y="1965960"/>
            <a:ext cx="3429000" cy="1097280"/>
          </a:xfrm>
          <a:prstGeom prst="roundRect">
            <a:avLst>
              <a:gd name="adj" fmla="val 5000"/>
            </a:avLst>
          </a:prstGeom>
          <a:solidFill>
            <a:srgbClr val="161D2E"/>
          </a:solidFill>
          <a:ln w="12700">
            <a:solidFill>
              <a:srgbClr val="2C38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36008" y="214884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Brazil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636008" y="245059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Hórus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119872" y="1965960"/>
            <a:ext cx="3429000" cy="1097280"/>
          </a:xfrm>
          <a:prstGeom prst="roundRect">
            <a:avLst>
              <a:gd name="adj" fmla="val 5000"/>
            </a:avLst>
          </a:prstGeom>
          <a:solidFill>
            <a:srgbClr val="161D2E"/>
          </a:solidFill>
          <a:ln w="12700">
            <a:solidFill>
              <a:srgbClr val="2C38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75904" y="214884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Africa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375904" y="245059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ePIMS / RxSolution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329184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D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keep running. MedMesh sits beside them and adds the sideways link.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85800" y="3913632"/>
            <a:ext cx="109728" cy="109728"/>
          </a:xfrm>
          <a:prstGeom prst="ellipse">
            <a:avLst/>
          </a:prstGeom>
          <a:solidFill>
            <a:srgbClr val="2DD4A7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3794760"/>
            <a:ext cx="10543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hardware, no new workflow at the facility. A phone photo of the register they already keep.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85800" y="4370832"/>
            <a:ext cx="109728" cy="109728"/>
          </a:xfrm>
          <a:prstGeom prst="ellipse">
            <a:avLst/>
          </a:prstGeom>
          <a:solidFill>
            <a:srgbClr val="2DD4A7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4251960"/>
            <a:ext cx="10543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runs in-process, so a district office can run this on a laptop with no cloud bill.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85800" y="4828032"/>
            <a:ext cx="109728" cy="109728"/>
          </a:xfrm>
          <a:prstGeom prst="ellipse">
            <a:avLst/>
          </a:prstGeom>
          <a:solidFill>
            <a:srgbClr val="2DD4A7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4709160"/>
            <a:ext cx="10543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district is a pilot. The engine is country-agnostic, so the second district costs nothing new.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85800" y="5285232"/>
            <a:ext cx="109728" cy="109728"/>
          </a:xfrm>
          <a:prstGeom prst="ellipse">
            <a:avLst/>
          </a:prstGeom>
          <a:solidFill>
            <a:srgbClr val="2DD4A7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5166360"/>
            <a:ext cx="10543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transfer is a recommendation. A human officer approves, which is how it survives audit.</a:t>
            </a:r>
            <a:endParaRPr lang="en-US" sz="135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327648"/>
            <a:ext cx="256032" cy="256032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987552" y="632764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MedMesh  ·  Two Clocks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1091672" y="632764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DD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ARE NOT CLAIMING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087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is weaker than it looks.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67528" cy="1463040"/>
          </a:xfrm>
          <a:prstGeom prst="roundRect">
            <a:avLst>
              <a:gd name="adj" fmla="val 3750"/>
            </a:avLst>
          </a:prstGeom>
          <a:solidFill>
            <a:srgbClr val="161D2E"/>
          </a:solidFill>
          <a:ln w="12700">
            <a:solidFill>
              <a:srgbClr val="2C38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057400"/>
            <a:ext cx="4818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is approximate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404872"/>
            <a:ext cx="48188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Straight-line times 1.35, not real routing. A river breaks individual proposals. Google Maps Routes API is a one-line swap.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81344" y="1874520"/>
            <a:ext cx="5367528" cy="1463040"/>
          </a:xfrm>
          <a:prstGeom prst="roundRect">
            <a:avLst>
              <a:gd name="adj" fmla="val 3750"/>
            </a:avLst>
          </a:prstGeom>
          <a:solidFill>
            <a:srgbClr val="161D2E"/>
          </a:solidFill>
          <a:ln w="12700">
            <a:solidFill>
              <a:srgbClr val="2C38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55664" y="2057400"/>
            <a:ext cx="4818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matcher is greedy, not optimal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55664" y="2404872"/>
            <a:ext cx="48188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Deliberate. An officer must follow why a proposal exists, and an optimal plan nobody trusts delivers nothing.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566160"/>
            <a:ext cx="5367528" cy="1463040"/>
          </a:xfrm>
          <a:prstGeom prst="roundRect">
            <a:avLst>
              <a:gd name="adj" fmla="val 3750"/>
            </a:avLst>
          </a:prstGeom>
          <a:solidFill>
            <a:srgbClr val="161D2E"/>
          </a:solidFill>
          <a:ln w="12700">
            <a:solidFill>
              <a:srgbClr val="2C38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749040"/>
            <a:ext cx="4818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is simulated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4096512"/>
            <a:ext cx="48188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ministry publishes facility-level stock, which is part of the problem. Calibrated to five published measures, within tolerance on all five.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81344" y="3566160"/>
            <a:ext cx="5367528" cy="1463040"/>
          </a:xfrm>
          <a:prstGeom prst="roundRect">
            <a:avLst>
              <a:gd name="adj" fmla="val 3750"/>
            </a:avLst>
          </a:prstGeom>
          <a:solidFill>
            <a:srgbClr val="161D2E"/>
          </a:solidFill>
          <a:ln w="12700">
            <a:solidFill>
              <a:srgbClr val="2C38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55664" y="3749040"/>
            <a:ext cx="4818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Outbreaks are the blind spot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55664" y="4096512"/>
            <a:ext cx="48188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forecast assumes last year’s seasonality holds, so a cholera surge is exactly what it would miss, and exactly when the mesh matters most.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534924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Calibration: stock-outs 79.3% against 85.6% published, overstock 55.6% against 50.6%, mean stock-out duration 21.7 days against 22.4. The generator self-checks on every run.</a:t>
            </a:r>
            <a:endParaRPr lang="en-US" sz="12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327648"/>
            <a:ext cx="256032" cy="256032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987552" y="632764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MedMesh  ·  Two Clocks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1091672" y="632764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685800" cy="685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14884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medicine already exists.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640080" y="283464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DD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in the wrong place.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640080" y="3794760"/>
            <a:ext cx="8961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clinics eleven kilometres apart, one binning insulin and one without any. That is not a supply problem. It is a visibility problem with a shape nobody built for.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40080" y="475488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DD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are asking for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40080" y="5029200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district. One quarter. Beside the system that is already there.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640080" y="576072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Two Clocks   ·   github.com/Baralashutosh/GOOGLE-HACKATHON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MedMesh</dc:title>
  <dc:subject>PptxGenJS Presentation</dc:subject>
  <dc:creator>Two Clocks</dc:creator>
  <cp:lastModifiedBy>Two Clocks</cp:lastModifiedBy>
  <cp:revision>1</cp:revision>
  <dcterms:created xsi:type="dcterms:W3CDTF">2026-08-18T08:42:00Z</dcterms:created>
  <dcterms:modified xsi:type="dcterms:W3CDTF">2026-08-18T08:42:00Z</dcterms:modified>
</cp:coreProperties>
</file>